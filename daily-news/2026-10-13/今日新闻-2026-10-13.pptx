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分享日：2026-10-13（星期二）；制作与查询日：2026-10-12。</a:t>
            </a:r>
          </a:p>
          <a:p>
            <a:r>
              <a:t>新闻：https://www.news.cn/gongyi/20261012/cad9b7978b3e4f7d84ff88145282c2f5/c.html</a:t>
            </a:r>
          </a:p>
          <a:p>
            <a:r>
              <a:t>图片：https://www.news.cn/gongyi/20261012/cad9b7978b3e4f7d84ff88145282c2f5/20261012cad9b7978b3e4f7d84ff88145282c2f5_8bfb9f454a7c4075b9f6dccdce46bddd.JPG</a:t>
            </a:r>
          </a:p>
          <a:p>
            <a:r>
              <a:t>教学目的：我们一起爱护小鸟休息的地方。</a:t>
            </a:r>
          </a:p>
          <a:p>
            <a:r>
              <a:t>天气：https://www.weather.com.cn/weather/101020100.shtml，10月13日多云转阴、19—27℃。</a:t>
            </a:r>
          </a:p>
          <a:p>
            <a:r>
              <a:t>正文中的爱护小鸟或认识机器人用途是教学提示，不冒充报道中的活动。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分享日：2026-10-13（星期二）；制作与查询日：2026-10-12。</a:t>
            </a:r>
          </a:p>
          <a:p>
            <a:r>
              <a:t>新闻：https://www.hi.chinanews.com.cn/hnnew/2026-10-12/747352.html</a:t>
            </a:r>
          </a:p>
          <a:p>
            <a:r>
              <a:t>图片：https://www.hi.chinanews.com.cn/2026/1012/U585P16DT20261012085339.jpg</a:t>
            </a:r>
          </a:p>
          <a:p>
            <a:r>
              <a:t>教学目的：我们可以看颜色和花纹，认识小动物。</a:t>
            </a:r>
          </a:p>
          <a:p>
            <a:r>
              <a:t>天气：https://www.weather.com.cn/weather/101020100.shtml，10月13日多云转阴、19—27℃。</a:t>
            </a:r>
          </a:p>
          <a:p>
            <a:r>
              <a:t>正文中的爱护小鸟或认识机器人用途是教学提示，不冒充报道中的活动。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分享日：2026-10-13（星期二）；制作与查询日：2026-10-12。</a:t>
            </a:r>
          </a:p>
          <a:p>
            <a:r>
              <a:t>新闻：https://www.sh.chinanews.com.cn/bdrd/2026-10-12/150017.shtml</a:t>
            </a:r>
          </a:p>
          <a:p>
            <a:r>
              <a:t>图片：https://www.sh.chinanews.com.cn/2026/1012/U580P939DT20261012141153.jpeg</a:t>
            </a:r>
          </a:p>
          <a:p>
            <a:r>
              <a:t>教学目的：原来，机器人可以帮人干活。</a:t>
            </a:r>
          </a:p>
          <a:p>
            <a:r>
              <a:t>天气：https://www.weather.com.cn/weather/101020100.shtml，10月13日多云转阴、19—27℃。</a:t>
            </a:r>
          </a:p>
          <a:p>
            <a:r>
              <a:t>正文中的爱护小鸟或认识机器人用途是教学提示，不冒充报道中的活动。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weather.com.cn/weather/101020100.shtml" TargetMode="External"/><Relationship Id="rId3" Type="http://schemas.openxmlformats.org/officeDocument/2006/relationships/image" Target="../media/image1.jpg"/><Relationship Id="rId4" Type="http://schemas.openxmlformats.org/officeDocument/2006/relationships/hyperlink" Target="https://www.news.cn/gongyi/20261012/cad9b7978b3e4f7d84ff88145282c2f5/c.html" TargetMode="External"/><Relationship Id="rId5" Type="http://schemas.openxmlformats.org/officeDocument/2006/relationships/hyperlink" Target="https://www.news.cn/gongyi/20261012/cad9b7978b3e4f7d84ff88145282c2f5/20261012cad9b7978b3e4f7d84ff88145282c2f5_8bfb9f454a7c4075b9f6dccdce46bddd.JPG" TargetMode="Externa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weather.com.cn/weather/101020100.shtml" TargetMode="External"/><Relationship Id="rId3" Type="http://schemas.openxmlformats.org/officeDocument/2006/relationships/image" Target="../media/image2.jpg"/><Relationship Id="rId4" Type="http://schemas.openxmlformats.org/officeDocument/2006/relationships/hyperlink" Target="https://www.hi.chinanews.com.cn/hnnew/2026-10-12/747352.html" TargetMode="External"/><Relationship Id="rId5" Type="http://schemas.openxmlformats.org/officeDocument/2006/relationships/hyperlink" Target="https://www.hi.chinanews.com.cn/2026/1012/U585P16DT20261012085339.jpg" TargetMode="Externa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weather.com.cn/weather/101020100.shtml" TargetMode="External"/><Relationship Id="rId3" Type="http://schemas.openxmlformats.org/officeDocument/2006/relationships/image" Target="../media/image3.jpg"/><Relationship Id="rId4" Type="http://schemas.openxmlformats.org/officeDocument/2006/relationships/hyperlink" Target="https://www.sh.chinanews.com.cn/bdrd/2026-10-12/150017.shtml" TargetMode="External"/><Relationship Id="rId5" Type="http://schemas.openxmlformats.org/officeDocument/2006/relationships/hyperlink" Target="https://www.sh.chinanews.com.cn/2026/1012/U580P939DT20261012141153.jpeg" TargetMode="Externa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54537"/>
                </a:solidFill>
                <a:latin typeface="PingFang SC"/>
                <a:ea typeface="PingFang SC"/>
              </a:rPr>
              <a:t>今日新闻 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274320"/>
            <a:ext cx="576072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54537"/>
                </a:solidFill>
                <a:latin typeface="PingFang SC"/>
                <a:ea typeface="PingFang SC"/>
              </a:rPr>
              <a:t>2026年10月13日 星期二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722376"/>
            <a:ext cx="576072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4537"/>
                </a:solidFill>
                <a:latin typeface="PingFang SC"/>
                <a:ea typeface="PingFang SC"/>
                <a:hlinkClick r:id="rId2"/>
              </a:rPr>
              <a:t>上海 多云转阴 19—27℃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7589520" cy="5715000"/>
          </a:xfrm>
          <a:prstGeom prst="roundRect">
            <a:avLst>
              <a:gd name="adj" fmla="val 12000"/>
            </a:avLst>
          </a:prstGeom>
          <a:solidFill>
            <a:srgbClr val="E9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wan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15440"/>
            <a:ext cx="7223760" cy="4815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537960"/>
            <a:ext cx="70408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4537"/>
                </a:solidFill>
                <a:latin typeface="PingFang SC"/>
                <a:ea typeface="PingFang SC"/>
              </a:rPr>
              <a:t>图里：两只天鹅面对面，站在浅水里。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508760"/>
            <a:ext cx="5715000" cy="14630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54537"/>
                </a:solidFill>
                <a:latin typeface="PingFang SC"/>
                <a:ea typeface="PingFang SC"/>
              </a:rPr>
              <a:t>大庆水边拍到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54537"/>
                </a:solidFill>
                <a:latin typeface="PingFang SC"/>
                <a:ea typeface="PingFang SC"/>
              </a:rPr>
              <a:t>两只天鹅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3246120"/>
            <a:ext cx="5577840" cy="11887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54537"/>
                </a:solidFill>
                <a:latin typeface="PingFang SC"/>
                <a:ea typeface="PingFang SC"/>
              </a:rPr>
              <a:t>10月11日，大庆水边拍到了天鹅。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4572000"/>
            <a:ext cx="557784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54537"/>
                </a:solidFill>
                <a:latin typeface="PingFang SC"/>
                <a:ea typeface="PingFang SC"/>
              </a:rPr>
              <a:t>黑龙江的候鸟正在休息，准备往南飞。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9327" y="5925312"/>
            <a:ext cx="5715000" cy="1024128"/>
          </a:xfrm>
          <a:prstGeom prst="roundRect">
            <a:avLst>
              <a:gd name="adj" fmla="val 12000"/>
            </a:avLst>
          </a:prstGeom>
          <a:solidFill>
            <a:srgbClr val="E9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6080760"/>
            <a:ext cx="5394960" cy="75895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D75D3D"/>
                </a:solidFill>
                <a:latin typeface="PingFang SC"/>
                <a:ea typeface="PingFang SC"/>
              </a:rPr>
              <a:t>我们一起爱护小鸟休息的地方。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7324344"/>
            <a:ext cx="731520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54537"/>
                </a:solidFill>
                <a:latin typeface="PingFang SC"/>
                <a:ea typeface="PingFang SC"/>
                <a:hlinkClick r:id="rId4"/>
              </a:rPr>
              <a:t>新闻原文：新华社 · 2026-10-12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7680960"/>
            <a:ext cx="120700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54537"/>
                </a:solidFill>
                <a:latin typeface="PingFang SC"/>
                <a:ea typeface="PingFang SC"/>
                <a:hlinkClick r:id="rId5"/>
              </a:rPr>
              <a:t>图片来源：新华社发 / 池世永摄 · 拍摄 2026-10-11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7324344"/>
            <a:ext cx="576072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54537"/>
                </a:solidFill>
                <a:latin typeface="PingFang SC"/>
                <a:ea typeface="PingFang SC"/>
                <a:hlinkClick r:id="rId2"/>
              </a:rPr>
              <a:t>天气预报：中国天气网 · 10月12日查询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54537"/>
                </a:solidFill>
                <a:latin typeface="PingFang SC"/>
                <a:ea typeface="PingFang SC"/>
              </a:rPr>
              <a:t>今日新闻 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274320"/>
            <a:ext cx="576072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54537"/>
                </a:solidFill>
                <a:latin typeface="PingFang SC"/>
                <a:ea typeface="PingFang SC"/>
              </a:rPr>
              <a:t>2026年10月13日 星期二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722376"/>
            <a:ext cx="576072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4537"/>
                </a:solidFill>
                <a:latin typeface="PingFang SC"/>
                <a:ea typeface="PingFang SC"/>
                <a:hlinkClick r:id="rId2"/>
              </a:rPr>
              <a:t>上海 多云转阴 19—27℃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7589520" cy="5715000"/>
          </a:xfrm>
          <a:prstGeom prst="roundRect">
            <a:avLst>
              <a:gd name="adj" fmla="val 12000"/>
            </a:avLst>
          </a:prstGeom>
          <a:solidFill>
            <a:srgbClr val="FBE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uck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92680"/>
            <a:ext cx="7223760" cy="40613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537960"/>
            <a:ext cx="70408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4537"/>
                </a:solidFill>
                <a:latin typeface="PingFang SC"/>
                <a:ea typeface="PingFang SC"/>
              </a:rPr>
              <a:t>图里：白眉鸭正在水里游。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508760"/>
            <a:ext cx="5715000" cy="14630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54537"/>
                </a:solidFill>
                <a:latin typeface="PingFang SC"/>
                <a:ea typeface="PingFang SC"/>
              </a:rPr>
              <a:t>海口湿地发现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54537"/>
                </a:solidFill>
                <a:latin typeface="PingFang SC"/>
                <a:ea typeface="PingFang SC"/>
              </a:rPr>
              <a:t>25只白眉鸭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3246120"/>
            <a:ext cx="5577840" cy="11887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54537"/>
                </a:solidFill>
                <a:latin typeface="PingFang SC"/>
                <a:ea typeface="PingFang SC"/>
              </a:rPr>
              <a:t>海口的湿地里，最近发现了25只白眉鸭。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4572000"/>
            <a:ext cx="557784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54537"/>
                </a:solidFill>
                <a:latin typeface="PingFang SC"/>
                <a:ea typeface="PingFang SC"/>
              </a:rPr>
              <a:t>看，这只小鸭的眼睛上方有一条白线。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9327" y="5925312"/>
            <a:ext cx="5715000" cy="1024128"/>
          </a:xfrm>
          <a:prstGeom prst="roundRect">
            <a:avLst>
              <a:gd name="adj" fmla="val 12000"/>
            </a:avLst>
          </a:prstGeom>
          <a:solidFill>
            <a:srgbClr val="FBE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6080760"/>
            <a:ext cx="5394960" cy="75895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D75D3D"/>
                </a:solidFill>
                <a:latin typeface="PingFang SC"/>
                <a:ea typeface="PingFang SC"/>
              </a:rPr>
              <a:t>我们可以看颜色和花纹，认识小动物。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7324344"/>
            <a:ext cx="731520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54537"/>
                </a:solidFill>
                <a:latin typeface="PingFang SC"/>
                <a:ea typeface="PingFang SC"/>
                <a:hlinkClick r:id="rId4"/>
              </a:rPr>
              <a:t>新闻原文：海口日报（中新网转载） · 2026-10-12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7680960"/>
            <a:ext cx="120700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54537"/>
                </a:solidFill>
                <a:latin typeface="PingFang SC"/>
                <a:ea typeface="PingFang SC"/>
                <a:hlinkClick r:id="rId5"/>
              </a:rPr>
              <a:t>图片来源：海口日报 / 石中华、冯尔辉摄（原图联合署名） · 拍摄日未注明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7324344"/>
            <a:ext cx="576072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54537"/>
                </a:solidFill>
                <a:latin typeface="PingFang SC"/>
                <a:ea typeface="PingFang SC"/>
                <a:hlinkClick r:id="rId2"/>
              </a:rPr>
              <a:t>天气预报：中国天气网 · 10月12日查询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54537"/>
                </a:solidFill>
                <a:latin typeface="PingFang SC"/>
                <a:ea typeface="PingFang SC"/>
              </a:rPr>
              <a:t>今日新闻 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274320"/>
            <a:ext cx="576072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54537"/>
                </a:solidFill>
                <a:latin typeface="PingFang SC"/>
                <a:ea typeface="PingFang SC"/>
              </a:rPr>
              <a:t>2026年10月13日 星期二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722376"/>
            <a:ext cx="576072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4537"/>
                </a:solidFill>
                <a:latin typeface="PingFang SC"/>
                <a:ea typeface="PingFang SC"/>
                <a:hlinkClick r:id="rId2"/>
              </a:rPr>
              <a:t>上海 多云转阴 19—27℃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7589520" cy="5715000"/>
          </a:xfrm>
          <a:prstGeom prst="roundRect">
            <a:avLst>
              <a:gd name="adj" fmla="val 12000"/>
            </a:avLst>
          </a:prstGeom>
          <a:solidFill>
            <a:srgbClr val="E9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ob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80415"/>
            <a:ext cx="7223760" cy="4885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537960"/>
            <a:ext cx="70408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4537"/>
                </a:solidFill>
                <a:latin typeface="PingFang SC"/>
                <a:ea typeface="PingFang SC"/>
              </a:rPr>
              <a:t>图里：机器人正用双手搬箱子。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508760"/>
            <a:ext cx="5715000" cy="14630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54537"/>
                </a:solidFill>
                <a:latin typeface="PingFang SC"/>
                <a:ea typeface="PingFang SC"/>
              </a:rPr>
              <a:t>上海机器人伸出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54537"/>
                </a:solidFill>
                <a:latin typeface="PingFang SC"/>
                <a:ea typeface="PingFang SC"/>
              </a:rPr>
              <a:t>双手搬箱子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3246120"/>
            <a:ext cx="5577840" cy="11887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54537"/>
                </a:solidFill>
                <a:latin typeface="PingFang SC"/>
                <a:ea typeface="PingFang SC"/>
              </a:rPr>
              <a:t>上海的展会上，机器人正在展示搬箱子。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4572000"/>
            <a:ext cx="557784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54537"/>
                </a:solidFill>
                <a:latin typeface="PingFang SC"/>
                <a:ea typeface="PingFang SC"/>
              </a:rPr>
              <a:t>工作人员说，它能搬不同种类的箱子。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9327" y="5925312"/>
            <a:ext cx="5715000" cy="1024128"/>
          </a:xfrm>
          <a:prstGeom prst="roundRect">
            <a:avLst>
              <a:gd name="adj" fmla="val 12000"/>
            </a:avLst>
          </a:prstGeom>
          <a:solidFill>
            <a:srgbClr val="E9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6080760"/>
            <a:ext cx="5394960" cy="75895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D75D3D"/>
                </a:solidFill>
                <a:latin typeface="PingFang SC"/>
                <a:ea typeface="PingFang SC"/>
              </a:rPr>
              <a:t>原来，机器人可以帮人干活。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7324344"/>
            <a:ext cx="731520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54537"/>
                </a:solidFill>
                <a:latin typeface="PingFang SC"/>
                <a:ea typeface="PingFang SC"/>
                <a:hlinkClick r:id="rId4"/>
              </a:rPr>
              <a:t>新闻原文：中国新闻网 · 2026-10-12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7680960"/>
            <a:ext cx="120700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54537"/>
                </a:solidFill>
                <a:latin typeface="PingFang SC"/>
                <a:ea typeface="PingFang SC"/>
                <a:hlinkClick r:id="rId5"/>
              </a:rPr>
              <a:t>图片来源：中新社 / 郑莹莹摄 · 拍摄 2026-10-11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7324344"/>
            <a:ext cx="576072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54537"/>
                </a:solidFill>
                <a:latin typeface="PingFang SC"/>
                <a:ea typeface="PingFang SC"/>
                <a:hlinkClick r:id="rId2"/>
              </a:rPr>
              <a:t>天气预报：中国天气网 · 10月12日查询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今日新闻 · 2026-10-13</dc:title>
  <dc:subject>幼儿园大班 · 3条真实新闻 · 每条一页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