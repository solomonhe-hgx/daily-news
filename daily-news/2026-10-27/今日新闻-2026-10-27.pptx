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05840" cy="411480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058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1400" b="1">
                <a:solidFill>
                  <a:srgbClr val="254537"/>
                </a:solidFill>
                <a:latin typeface="Microsoft YaHei"/>
                <a:ea typeface="Microsoft YaHei"/>
              </a:rPr>
              <a:t>1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11480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400" b="0">
                <a:solidFill>
                  <a:srgbClr val="52665B"/>
                </a:solidFill>
                <a:latin typeface="Microsoft YaHei"/>
                <a:ea typeface="Microsoft YaHei"/>
              </a:rPr>
              <a:t>太空里的互联网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6126480" cy="5212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atellite-lau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594360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1097280"/>
            <a:ext cx="484632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3600" b="1">
                <a:solidFill>
                  <a:srgbClr val="254537"/>
                </a:solidFill>
                <a:latin typeface="Microsoft YaHei"/>
                <a:ea typeface="Microsoft YaHei"/>
              </a:rPr>
              <a:t>第28组卫星从海南飞上天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7744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10月25日，长征八号甲火箭从海南起飞，把第28组卫星送进太空。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0040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这些卫星在天上组成一张大网，让偏远地方也能上网。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4206240"/>
            <a:ext cx="4846320" cy="685800"/>
          </a:xfrm>
          <a:prstGeom prst="round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4251960"/>
            <a:ext cx="466344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800" b="1">
                <a:solidFill>
                  <a:srgbClr val="BC4F32"/>
                </a:solidFill>
                <a:latin typeface="Microsoft YaHei"/>
                <a:ea typeface="Microsoft YaHei"/>
              </a:rPr>
              <a:t>以后在很远很远的地方，也能用卫星上网课、看视频。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小小新闻播报 · 2026年10月27日 星期二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400800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r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第1页，共3页</a:t>
            </a:r>
          </a:p>
        </p:txBody>
      </p:sp>
    </p:spTree>
  </p:cSld>
  <p:clrMapOvr>
    <a:masterClrMapping/>
  </p:clrMapOvr>
  <p:timing>
    <p:tnLst>
      <p:par>
        <p:cT id="1" dur="indefinite" restart="never" nodeType="tmRoot">
          <p:childTnLst>
            <p:seq concurrent="1" nextAc="seek">
              <p:cT id="2" dur="indefinite" nodeType="mainSeq">
                <p:childTnLst>
                  <p:par>
                    <p:cT id="3" fill="hold">
                      <p:stCondLst>
                        <p:cond delay="0"/>
                      </p:stCondLst>
                      <p:childTnLst>
                        <p:set>
                          <p:cBhvr>
                            <p:cT id="4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5" dur="300"/>
                            <p:tgtEl>
                              <p:spTgt spid="2"/>
                            </p:tgtEl>
                          </p:cBhvr>
                        </p:animEffect>
                      </p:childTnLst>
                    </p:cT>
                  </p:par>
                  <p:par>
                    <p:cT id="4" fill="hold">
                      <p:stCondLst>
                        <p:cond delay="200"/>
                      </p:stCondLst>
                      <p:childTnLst>
                        <p:set>
                          <p:cBhvr>
                            <p:cT id="5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6" dur="400"/>
                            <p:tgtEl>
                              <p:spTgt spid="3"/>
                            </p:tgtEl>
                          </p:cBhvr>
                        </p:animEffect>
                      </p:childTnLst>
                    </p:cT>
                  </p:par>
                  <p:par>
                    <p:cT id="5" fill="hold">
                      <p:stCondLst>
                        <p:cond delay="300"/>
                      </p:stCondLst>
                      <p:childTnLst>
                        <p:set>
                          <p:cBhvr>
                            <p:cT id="6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7" dur="400"/>
                            <p:tgtEl>
                              <p:spTgt spid="5"/>
                            </p:tgtEl>
                          </p:cBhvr>
                        </p:animEffect>
                      </p:childTnLst>
                    </p:cT>
                  </p:par>
                  <p:par>
                    <p:cT id="6" fill="hold">
                      <p:stCondLst>
                        <p:cond delay="400"/>
                      </p:stCondLst>
                      <p:childTnLst>
                        <p:set>
                          <p:cBhvr>
                            <p:cT id="7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8" dur="500"/>
                            <p:tgtEl>
                              <p:spTgt spid="6"/>
                            </p:tgtEl>
                          </p:cBhvr>
                        </p:animEffect>
                      </p:childTnLst>
                    </p:cT>
                  </p:par>
                  <p:par>
                    <p:cT id="7" fill="hold">
                      <p:stCondLst>
                        <p:cond delay="600"/>
                      </p:stCondLst>
                      <p:childTnLst>
                        <p:set>
                          <p:cBhvr>
                            <p:cT id="8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9" dur="500"/>
                            <p:tgtEl>
                              <p:spTgt spid="8"/>
                            </p:tgtEl>
                          </p:cBhvr>
                        </p:animEffect>
                      </p:childTnLst>
                    </p:cT>
                  </p:par>
                  <p:par>
                    <p:cT id="8" fill="hold">
                      <p:stCondLst>
                        <p:cond delay="800"/>
                      </p:stCondLst>
                      <p:childTnLst>
                        <p:set>
                          <p:cBhvr>
                            <p:cT id="9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0" dur="500"/>
                            <p:tgtEl>
                              <p:spTgt spid="9"/>
                            </p:tgtEl>
                          </p:cBhvr>
                        </p:animEffect>
                      </p:childTnLst>
                    </p:cT>
                  </p:par>
                  <p:par>
                    <p:cT id="9" fill="hold">
                      <p:stCondLst>
                        <p:cond delay="1000"/>
                      </p:stCondLst>
                      <p:childTnLst>
                        <p:set>
                          <p:cBhvr>
                            <p:cT id="10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1" dur="500"/>
                            <p:tgtEl>
                              <p:spTgt spid="10"/>
                            </p:tgtEl>
                          </p:cBhvr>
                        </p:animEffect>
                      </p:childTnLst>
                    </p:cT>
                  </p:par>
                  <p:par>
                    <p:cT id="10" fill="hold">
                      <p:stCondLst>
                        <p:cond delay="1200"/>
                      </p:stCondLst>
                      <p:childTnLst>
                        <p:set>
                          <p:cBhvr>
                            <p:cT id="11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2" dur="500"/>
                            <p:tgtEl>
                              <p:spTgt spid="11"/>
                            </p:tgtEl>
                          </p:cBhvr>
                        </p:animEffect>
                      </p:childTnLst>
                    </p:cT>
                  </p:par>
                  <p:par>
                    <p:cT id="11" fill="hold">
                      <p:stCondLst>
                        <p:cond delay="1400"/>
                      </p:stCondLst>
                      <p:childTnLst>
                        <p:set>
                          <p:cBhvr>
                            <p:cT id="12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3" dur="400"/>
                            <p:tgtEl>
                              <p:spTgt spid="13"/>
                            </p:tgtEl>
                          </p:cBhvr>
                        </p:animEffect>
                      </p:childTnLst>
                    </p:cT>
                  </p:par>
                  <p:par>
                    <p:cT id="12" fill="hold">
                      <p:stCondLst>
                        <p:cond delay="1400"/>
                      </p:stCondLst>
                      <p:childTnLst>
                        <p:set>
                          <p:cBhvr>
                            <p:cT id="13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4" dur="400"/>
                            <p:tgtEl>
                              <p:spTgt spid="14"/>
                            </p:tgtEl>
                          </p:cBhvr>
                        </p:animEffect>
                      </p:childTnLst>
                    </p:cT>
                  </p:par>
                </p:childTnLst>
              </p:cT>
            </p:seq>
          </p:childTnLst>
        </p:cT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05840" cy="411480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058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1400" b="1">
                <a:solidFill>
                  <a:srgbClr val="254537"/>
                </a:solidFill>
                <a:latin typeface="Microsoft YaHei"/>
                <a:ea typeface="Microsoft YaHei"/>
              </a:rPr>
              <a:t>2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11480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400" b="0">
                <a:solidFill>
                  <a:srgbClr val="52665B"/>
                </a:solidFill>
                <a:latin typeface="Microsoft YaHei"/>
                <a:ea typeface="Microsoft YaHei"/>
              </a:rPr>
              <a:t>体操世锦赛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6126480" cy="5212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ymnastics-te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5943600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0" y="1097280"/>
            <a:ext cx="484632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3600" b="1">
                <a:solidFill>
                  <a:srgbClr val="254537"/>
                </a:solidFill>
                <a:latin typeface="Microsoft YaHei"/>
                <a:ea typeface="Microsoft YaHei"/>
              </a:rPr>
              <a:t>中国体操队时隔20年再夺世界冠军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7744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在荷兰鹿特丹，中国女子体操队拿了世锦赛团体冠军。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00400"/>
            <a:ext cx="48463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200" b="0">
                <a:solidFill>
                  <a:srgbClr val="254537"/>
                </a:solidFill>
                <a:latin typeface="Microsoft YaHei"/>
                <a:ea typeface="Microsoft YaHei"/>
              </a:rPr>
              <a:t>这是中国队时隔20年再夺这个冠军，上次夺冠还是2006年。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4206240"/>
            <a:ext cx="4846320" cy="685800"/>
          </a:xfrm>
          <a:prstGeom prst="round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4251960"/>
            <a:ext cx="4663440" cy="59436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800" b="1">
                <a:solidFill>
                  <a:srgbClr val="BC4F32"/>
                </a:solidFill>
                <a:latin typeface="Microsoft YaHei"/>
                <a:ea typeface="Microsoft YaHei"/>
              </a:rPr>
              <a:t>团队合作和坚持练习，就能离梦想更近。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小小新闻播报 · 2026年10月27日 星期二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400800"/>
            <a:ext cx="48463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r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第2页，共3页</a:t>
            </a:r>
          </a:p>
        </p:txBody>
      </p:sp>
    </p:spTree>
  </p:cSld>
  <p:clrMapOvr>
    <a:masterClrMapping/>
  </p:clrMapOvr>
  <p:timing>
    <p:tnLst>
      <p:par>
        <p:cT id="1" dur="indefinite" restart="never" nodeType="tmRoot">
          <p:childTnLst>
            <p:seq concurrent="1" nextAc="seek">
              <p:cT id="2" dur="indefinite" nodeType="mainSeq">
                <p:childTnLst>
                  <p:par>
                    <p:cT id="3" fill="hold">
                      <p:stCondLst>
                        <p:cond delay="0"/>
                      </p:stCondLst>
                      <p:childTnLst>
                        <p:set>
                          <p:cBhvr>
                            <p:cT id="4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5" dur="300"/>
                            <p:tgtEl>
                              <p:spTgt spid="2"/>
                            </p:tgtEl>
                          </p:cBhvr>
                        </p:animEffect>
                      </p:childTnLst>
                    </p:cT>
                  </p:par>
                  <p:par>
                    <p:cT id="4" fill="hold">
                      <p:stCondLst>
                        <p:cond delay="200"/>
                      </p:stCondLst>
                      <p:childTnLst>
                        <p:set>
                          <p:cBhvr>
                            <p:cT id="5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6" dur="400"/>
                            <p:tgtEl>
                              <p:spTgt spid="3"/>
                            </p:tgtEl>
                          </p:cBhvr>
                        </p:animEffect>
                      </p:childTnLst>
                    </p:cT>
                  </p:par>
                  <p:par>
                    <p:cT id="5" fill="hold">
                      <p:stCondLst>
                        <p:cond delay="300"/>
                      </p:stCondLst>
                      <p:childTnLst>
                        <p:set>
                          <p:cBhvr>
                            <p:cT id="6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7" dur="400"/>
                            <p:tgtEl>
                              <p:spTgt spid="5"/>
                            </p:tgtEl>
                          </p:cBhvr>
                        </p:animEffect>
                      </p:childTnLst>
                    </p:cT>
                  </p:par>
                  <p:par>
                    <p:cT id="6" fill="hold">
                      <p:stCondLst>
                        <p:cond delay="400"/>
                      </p:stCondLst>
                      <p:childTnLst>
                        <p:set>
                          <p:cBhvr>
                            <p:cT id="7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8" dur="500"/>
                            <p:tgtEl>
                              <p:spTgt spid="6"/>
                            </p:tgtEl>
                          </p:cBhvr>
                        </p:animEffect>
                      </p:childTnLst>
                    </p:cT>
                  </p:par>
                  <p:par>
                    <p:cT id="7" fill="hold">
                      <p:stCondLst>
                        <p:cond delay="600"/>
                      </p:stCondLst>
                      <p:childTnLst>
                        <p:set>
                          <p:cBhvr>
                            <p:cT id="8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9" dur="500"/>
                            <p:tgtEl>
                              <p:spTgt spid="8"/>
                            </p:tgtEl>
                          </p:cBhvr>
                        </p:animEffect>
                      </p:childTnLst>
                    </p:cT>
                  </p:par>
                  <p:par>
                    <p:cT id="8" fill="hold">
                      <p:stCondLst>
                        <p:cond delay="800"/>
                      </p:stCondLst>
                      <p:childTnLst>
                        <p:set>
                          <p:cBhvr>
                            <p:cT id="9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0" dur="500"/>
                            <p:tgtEl>
                              <p:spTgt spid="9"/>
                            </p:tgtEl>
                          </p:cBhvr>
                        </p:animEffect>
                      </p:childTnLst>
                    </p:cT>
                  </p:par>
                  <p:par>
                    <p:cT id="9" fill="hold">
                      <p:stCondLst>
                        <p:cond delay="1000"/>
                      </p:stCondLst>
                      <p:childTnLst>
                        <p:set>
                          <p:cBhvr>
                            <p:cT id="10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1" dur="500"/>
                            <p:tgtEl>
                              <p:spTgt spid="10"/>
                            </p:tgtEl>
                          </p:cBhvr>
                        </p:animEffect>
                      </p:childTnLst>
                    </p:cT>
                  </p:par>
                  <p:par>
                    <p:cT id="10" fill="hold">
                      <p:stCondLst>
                        <p:cond delay="1200"/>
                      </p:stCondLst>
                      <p:childTnLst>
                        <p:set>
                          <p:cBhvr>
                            <p:cT id="11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2" dur="500"/>
                            <p:tgtEl>
                              <p:spTgt spid="11"/>
                            </p:tgtEl>
                          </p:cBhvr>
                        </p:animEffect>
                      </p:childTnLst>
                    </p:cT>
                  </p:par>
                  <p:par>
                    <p:cT id="11" fill="hold">
                      <p:stCondLst>
                        <p:cond delay="1400"/>
                      </p:stCondLst>
                      <p:childTnLst>
                        <p:set>
                          <p:cBhvr>
                            <p:cT id="12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3" dur="400"/>
                            <p:tgtEl>
                              <p:spTgt spid="13"/>
                            </p:tgtEl>
                          </p:cBhvr>
                        </p:animEffect>
                      </p:childTnLst>
                    </p:cT>
                  </p:par>
                  <p:par>
                    <p:cT id="12" fill="hold">
                      <p:stCondLst>
                        <p:cond delay="1400"/>
                      </p:stCondLst>
                      <p:childTnLst>
                        <p:set>
                          <p:cBhvr>
                            <p:cT id="13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14" dur="400"/>
                            <p:tgtEl>
                              <p:spTgt spid="14"/>
                            </p:tgtEl>
                          </p:cBhvr>
                        </p:animEffect>
                      </p:childTnLst>
                    </p:cT>
                  </p:par>
                </p:childTnLst>
              </p:cT>
            </p:seq>
          </p:childTnLst>
        </p:cT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005840" cy="411480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058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1400" b="1">
                <a:solidFill>
                  <a:srgbClr val="254537"/>
                </a:solidFill>
                <a:latin typeface="Microsoft YaHei"/>
                <a:ea typeface="Microsoft YaHei"/>
              </a:rPr>
              <a:t>3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384048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1400" b="0">
                <a:solidFill>
                  <a:srgbClr val="52665B"/>
                </a:solidFill>
                <a:latin typeface="Microsoft YaHei"/>
                <a:ea typeface="Microsoft YaHei"/>
              </a:rPr>
              <a:t>世界雪豹日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914400"/>
            <a:ext cx="6537960" cy="5257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now-leopard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033271"/>
            <a:ext cx="6309360" cy="41241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960120"/>
            <a:ext cx="4480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3400" b="1">
                <a:solidFill>
                  <a:srgbClr val="254537"/>
                </a:solidFill>
                <a:latin typeface="Microsoft YaHei"/>
                <a:ea typeface="Microsoft YaHei"/>
              </a:rPr>
              <a:t>雪豹的大尾巴像围巾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1965960"/>
            <a:ext cx="4480560" cy="658368"/>
          </a:xfrm>
          <a:prstGeom prst="roundRect">
            <a:avLst/>
          </a:prstGeom>
          <a:solidFill>
            <a:srgbClr val="E8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075688"/>
            <a:ext cx="411480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400" b="1">
                <a:solidFill>
                  <a:srgbClr val="254537"/>
                </a:solidFill>
                <a:latin typeface="Microsoft YaHei"/>
                <a:ea typeface="Microsoft YaHei"/>
              </a:rPr>
              <a:t>雪豹住在高山上。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2788920"/>
            <a:ext cx="4480560" cy="12618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4927" y="2926080"/>
            <a:ext cx="4069080" cy="987552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2000" b="0">
                <a:solidFill>
                  <a:srgbClr val="254537"/>
                </a:solidFill>
                <a:latin typeface="Microsoft YaHei"/>
                <a:ea typeface="Microsoft YaHei"/>
              </a:rPr>
              <a:t>它有厚厚的皮毛和大大的尾巴，走起路来很稳，而且还能保暖。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4224528"/>
            <a:ext cx="4480560" cy="676656"/>
          </a:xfrm>
          <a:prstGeom prst="round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4334256"/>
            <a:ext cx="420624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1800" b="1">
                <a:solidFill>
                  <a:srgbClr val="BC4F32"/>
                </a:solidFill>
                <a:latin typeface="Microsoft YaHei"/>
                <a:ea typeface="Microsoft YaHei"/>
              </a:rPr>
              <a:t>想一想：雪豹的大尾巴还像什么？</a:t>
            </a:r>
          </a:p>
        </p:txBody>
      </p:sp>
      <p:pic>
        <p:nvPicPr>
          <p:cNvPr id="15" name="Picture 14" descr="snow-leopard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5074920"/>
            <a:ext cx="2743200" cy="10744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35240" y="6144768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ctr"/>
            <a:r>
              <a:rPr sz="1100" b="0">
                <a:solidFill>
                  <a:srgbClr val="52665B"/>
                </a:solidFill>
                <a:latin typeface="Microsoft YaHei"/>
                <a:ea typeface="Microsoft YaHei"/>
              </a:rPr>
              <a:t>放映时，小雪豹会走起来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5852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l"/>
            <a:r>
              <a:rPr sz="900" b="0">
                <a:solidFill>
                  <a:srgbClr val="52665B"/>
                </a:solidFill>
                <a:latin typeface="Microsoft YaHei"/>
                <a:ea typeface="Microsoft YaHei"/>
              </a:rPr>
              <a:t>新华社 / 国家林业和草原局 · 2026-10-23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640080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noAutofit/>
          </a:bodyPr>
          <a:lstStyle/>
          <a:p>
            <a:pPr algn="r"/>
            <a:r>
              <a:rPr sz="1000" b="0">
                <a:solidFill>
                  <a:srgbClr val="52665B"/>
                </a:solidFill>
                <a:latin typeface="Microsoft YaHei"/>
                <a:ea typeface="Microsoft YaHei"/>
              </a:rPr>
              <a:t>第3页，共3页</a:t>
            </a:r>
          </a:p>
        </p:txBody>
      </p:sp>
    </p:spTree>
  </p:cSld>
  <p:clrMapOvr>
    <a:masterClrMapping/>
  </p:clrMapOvr>
  <p:timing>
    <p:tnLst>
      <p:par>
        <p:cT id="1" dur="indefinite" restart="never" nodeType="tmRoot">
          <p:childTnLst>
            <p:seq concurrent="1" nextAc="seek">
              <p:cT id="2" dur="indefinite" nodeType="mainSeq">
                <p:childTnLst>
                  <p:par>
                    <p:cT id="3" fill="hold">
                      <p:stCondLst>
                        <p:cond delay="200"/>
                      </p:stCondLst>
                      <p:childTnLst>
                        <p:set>
                          <p:cBhvr>
                            <p:cT id="4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5" dur="450"/>
                            <p:tgtEl>
                              <p:spTgt spid="8"/>
                            </p:tgtEl>
                          </p:cBhvr>
                        </p:animEffect>
                      </p:childTnLst>
                    </p:cT>
                  </p:par>
                  <p:par>
                    <p:cT id="4" fill="hold">
                      <p:stCondLst>
                        <p:cond delay="450"/>
                      </p:stCondLst>
                      <p:childTnLst>
                        <p:set>
                          <p:cBhvr>
                            <p:cT id="5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6" dur="400"/>
                            <p:tgtEl>
                              <p:spTgt spid="9"/>
                            </p:tgtEl>
                          </p:cBhvr>
                        </p:animEffect>
                      </p:childTnLst>
                    </p:cT>
                  </p:par>
                  <p:par>
                    <p:cT id="5" fill="hold">
                      <p:stCondLst>
                        <p:cond delay="650"/>
                      </p:stCondLst>
                      <p:childTnLst>
                        <p:set>
                          <p:cBhvr>
                            <p:cT id="6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7" dur="400"/>
                            <p:tgtEl>
                              <p:spTgt spid="11"/>
                            </p:tgtEl>
                          </p:cBhvr>
                        </p:animEffect>
                      </p:childTnLst>
                    </p:cT>
                  </p:par>
                  <p:par>
                    <p:cT id="6" fill="hold">
                      <p:stCondLst>
                        <p:cond delay="850"/>
                      </p:stCondLst>
                      <p:childTnLst>
                        <p:set>
                          <p:cBhvr>
                            <p:cT id="7" dur="1" fill="hold">
                              <p:stCondLst>
                                <p:cond delay="0"/>
                              </p:stCondLst>
                            </p:cT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 id="8" dur="450"/>
                            <p:tgtEl>
                              <p:spTgt spid="13"/>
                            </p:tgtEl>
                          </p:cBhvr>
                        </p:animEffect>
                      </p:childTnLst>
                    </p:cT>
                  </p:par>
                </p:childTnLst>
              </p:cT>
            </p:seq>
          </p:childTnLst>
        </p:cT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