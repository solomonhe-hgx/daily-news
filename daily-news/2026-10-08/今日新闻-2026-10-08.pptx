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4000" b="1">
                <a:solidFill>
                  <a:srgbClr val="26384A"/>
                </a:solidFill>
                <a:latin typeface="PingFang SC"/>
                <a:ea typeface="PingFang SC"/>
              </a:rPr>
              <a:t>小小新闻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274320"/>
            <a:ext cx="43891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0" y="301752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600" b="1">
                <a:solidFill>
                  <a:srgbClr val="26384A"/>
                </a:solidFill>
                <a:latin typeface="PingFang SC"/>
                <a:ea typeface="PingFang SC"/>
              </a:rPr>
              <a:t>10月8日 星期四 上海 晴间多云 17—24℃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520440" cy="5486400"/>
          </a:xfrm>
          <a:prstGeom prst="roundRect">
            <a:avLst/>
          </a:prstGeom>
          <a:solidFill>
            <a:srgbClr val="EA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188719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FFD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19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800" b="1">
                <a:solidFill>
                  <a:srgbClr val="26384A"/>
                </a:solidFill>
                <a:latin typeface="PingFang SC"/>
                <a:ea typeface="PingFang SC"/>
              </a:rPr>
              <a:t>1</a:t>
            </a:r>
          </a:p>
        </p:txBody>
      </p:sp>
      <p:pic>
        <p:nvPicPr>
          <p:cNvPr id="9" name="Picture 8" descr="space-national-d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1639"/>
            <a:ext cx="3246120" cy="1825942"/>
          </a:xfrm>
          <a:prstGeom prst="round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749039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000" b="1">
                <a:solidFill>
                  <a:srgbClr val="657482"/>
                </a:solidFill>
                <a:latin typeface="PingFang SC"/>
                <a:ea typeface="PingFang SC"/>
              </a:rPr>
              <a:t>图里：航天员在太空站里向大家挥手送祝福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96511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26384A"/>
                </a:solidFill>
                <a:latin typeface="PingFang SC"/>
                <a:ea typeface="PingFang SC"/>
              </a:rPr>
              <a:t>神舟二十三号航天员从太空送来国庆祝福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90872"/>
            <a:ext cx="31546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6384A"/>
                </a:solidFill>
                <a:latin typeface="PingFang SC"/>
                <a:ea typeface="PingFang SC"/>
              </a:rPr>
              <a:t>10月1日国庆节，三名航天员叔叔从天宫空间站给大家送来祝福。他们已经在太空住了五个多月，一边做实验一边给大家拍视频！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42431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D94F62"/>
                </a:solidFill>
                <a:latin typeface="PingFang SC"/>
                <a:ea typeface="PingFang SC"/>
              </a:rPr>
              <a:t>你想到太空里去住几天？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62471"/>
            <a:ext cx="3154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657482"/>
                </a:solidFill>
                <a:latin typeface="PingFang SC"/>
                <a:ea typeface="PingFang SC"/>
              </a:rPr>
              <a:t>央视网 · 10月1日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051560"/>
            <a:ext cx="3520440" cy="5486400"/>
          </a:xfrm>
          <a:prstGeom prst="roundRect">
            <a:avLst/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1188719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FFD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188719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800" b="1">
                <a:solidFill>
                  <a:srgbClr val="26384A"/>
                </a:solidFill>
                <a:latin typeface="PingFang SC"/>
                <a:ea typeface="PingFang SC"/>
              </a:rPr>
              <a:t>2</a:t>
            </a:r>
          </a:p>
        </p:txBody>
      </p:sp>
      <p:pic>
        <p:nvPicPr>
          <p:cNvPr id="18" name="Picture 17" descr="panda-atlant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91639"/>
            <a:ext cx="3246120" cy="1825942"/>
          </a:xfrm>
          <a:prstGeom prst="round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89120" y="3749039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000" b="1">
                <a:solidFill>
                  <a:srgbClr val="657482"/>
                </a:solidFill>
                <a:latin typeface="PingFang SC"/>
                <a:ea typeface="PingFang SC"/>
              </a:rPr>
              <a:t>图里：两只大熊猫正坐在地上开心地吃竹子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096511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26384A"/>
                </a:solidFill>
                <a:latin typeface="PingFang SC"/>
                <a:ea typeface="PingFang SC"/>
              </a:rPr>
              <a:t>大熊猫“平平”“福双”坐飞机去了美国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690872"/>
            <a:ext cx="31546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6384A"/>
                </a:solidFill>
                <a:latin typeface="PingFang SC"/>
                <a:ea typeface="PingFang SC"/>
              </a:rPr>
              <a:t>9月27日，两只大熊猫坐专机飞到了美国亚特兰大。它们要在那里住十年，每天吃竹子、睡觉、爬树，过几天就会和大家见面啦！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742431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D94F62"/>
                </a:solidFill>
                <a:latin typeface="PingFang SC"/>
                <a:ea typeface="PingFang SC"/>
              </a:rPr>
              <a:t>你想给它们取什么英文名？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6062471"/>
            <a:ext cx="3154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657482"/>
                </a:solidFill>
                <a:latin typeface="PingFang SC"/>
                <a:ea typeface="PingFang SC"/>
              </a:rPr>
              <a:t>新华社 · 9月28日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1051560"/>
            <a:ext cx="3520440" cy="5486400"/>
          </a:xfrm>
          <a:prstGeom prst="roundRect">
            <a:avLst/>
          </a:prstGeom>
          <a:solidFill>
            <a:srgbClr val="FF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92440" y="1188719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FFD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1188719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800" b="1">
                <a:solidFill>
                  <a:srgbClr val="26384A"/>
                </a:solidFill>
                <a:latin typeface="PingFang SC"/>
                <a:ea typeface="PingFang SC"/>
              </a:rPr>
              <a:t>3</a:t>
            </a:r>
          </a:p>
        </p:txBody>
      </p:sp>
      <p:pic>
        <p:nvPicPr>
          <p:cNvPr id="27" name="Picture 26" descr="fast-telescop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691639"/>
            <a:ext cx="3246120" cy="2164080"/>
          </a:xfrm>
          <a:prstGeom prst="round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138159" y="3749039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000" b="1">
                <a:solidFill>
                  <a:srgbClr val="657482"/>
                </a:solidFill>
                <a:latin typeface="PingFang SC"/>
                <a:ea typeface="PingFang SC"/>
              </a:rPr>
              <a:t>图里：贵州大山里有一个巨大的银色“碗”，就是中国天眼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4096511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26384A"/>
                </a:solidFill>
                <a:latin typeface="PingFang SC"/>
                <a:ea typeface="PingFang SC"/>
              </a:rPr>
              <a:t>贵州大山里的“天眼”找到了上千颗脉冲星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4690872"/>
            <a:ext cx="31546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6384A"/>
                </a:solidFill>
                <a:latin typeface="PingFang SC"/>
                <a:ea typeface="PingFang SC"/>
              </a:rPr>
              <a:t>贵州的大山里，有一个全世界最大的“大耳朵”。它叫中国天眼，已经工作十年了，找到了一千多颗脉冲星——它们是宇宙里会“发信号”的小星星！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5742431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D94F62"/>
                </a:solidFill>
                <a:latin typeface="PingFang SC"/>
                <a:ea typeface="PingFang SC"/>
              </a:rPr>
              <a:t>你听到过星星的声音吗？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6062471"/>
            <a:ext cx="3154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657482"/>
                </a:solidFill>
                <a:latin typeface="PingFang SC"/>
                <a:ea typeface="PingFang SC"/>
              </a:rPr>
              <a:t>新华社 · 9月25日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1">
                <a:solidFill>
                  <a:srgbClr val="657482"/>
                </a:solidFill>
                <a:latin typeface="PingFang SC"/>
                <a:ea typeface="PingFang SC"/>
              </a:rPr>
              <a:t>小主播：选一条你最喜欢的新闻讲给大家听。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