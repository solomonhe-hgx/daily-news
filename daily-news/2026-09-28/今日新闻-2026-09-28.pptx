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63C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955279" y="-1463040"/>
            <a:ext cx="5212080" cy="5212080"/>
          </a:xfrm>
          <a:prstGeom prst="round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-640080" y="5623560"/>
            <a:ext cx="7132320" cy="155448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713232"/>
            <a:ext cx="5943600" cy="36576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400" b="1">
                <a:solidFill>
                  <a:srgbClr val="213547"/>
                </a:solidFill>
                <a:latin typeface="PingFang SC"/>
                <a:ea typeface="PingFang SC"/>
              </a:rPr>
              <a:t>幼儿园大班 · 今日分享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25880"/>
            <a:ext cx="8321040" cy="233172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4800" b="1">
                <a:solidFill>
                  <a:srgbClr val="213547"/>
                </a:solidFill>
                <a:latin typeface="PingFang SC"/>
                <a:ea typeface="PingFang SC"/>
              </a:rPr>
              <a:t>小小新闻
播报员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4069080"/>
            <a:ext cx="9509760" cy="566928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400" b="1">
                <a:solidFill>
                  <a:srgbClr val="213547"/>
                </a:solidFill>
                <a:latin typeface="PingFang SC"/>
                <a:ea typeface="PingFang SC"/>
              </a:rPr>
              <a:t>熊猫旅行、科学家的信、太空猜图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4828032"/>
            <a:ext cx="4937760" cy="62179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4965192"/>
            <a:ext cx="457200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13547"/>
                </a:solidFill>
                <a:latin typeface="PingFang SC"/>
                <a:ea typeface="PingFang SC"/>
              </a:rPr>
              <a:t>2026年9月28日  星期一  上海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3232" y="6144768"/>
            <a:ext cx="978408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5C6E7C"/>
                </a:solidFill>
                <a:latin typeface="PingFang SC"/>
                <a:ea typeface="PingFang SC"/>
              </a:rPr>
              <a:t>开场：大家早上好，今天我带来了三个有趣的消息。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7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631168" y="-182880"/>
            <a:ext cx="822960" cy="722376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6766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6B6B"/>
                </a:solidFill>
                <a:latin typeface="PingFang SC"/>
                <a:ea typeface="PingFang SC"/>
              </a:rPr>
              <a:t>先看看窗外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698480" cy="786384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213547"/>
                </a:solidFill>
                <a:latin typeface="PingFang SC"/>
                <a:ea typeface="PingFang SC"/>
              </a:rPr>
              <a:t>上海今天有小阵雨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874519"/>
            <a:ext cx="3931920" cy="98755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5200" b="1">
                <a:solidFill>
                  <a:srgbClr val="FF6B6B"/>
                </a:solidFill>
                <a:latin typeface="PingFang SC"/>
                <a:ea typeface="PingFang SC"/>
              </a:rPr>
              <a:t>23–25℃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980944"/>
            <a:ext cx="5120640" cy="768096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300" b="1">
                <a:solidFill>
                  <a:srgbClr val="213547"/>
                </a:solidFill>
                <a:latin typeface="PingFang SC"/>
                <a:ea typeface="PingFang SC"/>
              </a:rPr>
              <a:t>东北风 · 记得带雨具 · 小心路滑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37960" y="1600200"/>
            <a:ext cx="4160520" cy="324612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086600" y="1874519"/>
            <a:ext cx="1188720" cy="1188720"/>
          </a:xfrm>
          <a:prstGeom prst="ellipse">
            <a:avLst/>
          </a:prstGeom>
          <a:solidFill>
            <a:srgbClr val="FFC8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7635240" y="2788920"/>
            <a:ext cx="2606040" cy="960120"/>
          </a:xfrm>
          <a:prstGeom prst="roundRect">
            <a:avLst/>
          </a:prstGeom>
          <a:solidFill>
            <a:srgbClr val="FFFFFF"/>
          </a:solidFill>
          <a:ln>
            <a:solidFill>
              <a:srgbClr val="E0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ardrop 10"/>
          <p:cNvSpPr/>
          <p:nvPr/>
        </p:nvSpPr>
        <p:spPr>
          <a:xfrm>
            <a:off x="7818120" y="3858768"/>
            <a:ext cx="219456" cy="411480"/>
          </a:xfrm>
          <a:prstGeom prst="teardrop">
            <a:avLst/>
          </a:prstGeom>
          <a:solidFill>
            <a:srgbClr val="72B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ardrop 11"/>
          <p:cNvSpPr/>
          <p:nvPr/>
        </p:nvSpPr>
        <p:spPr>
          <a:xfrm>
            <a:off x="8412480" y="3858768"/>
            <a:ext cx="219456" cy="411480"/>
          </a:xfrm>
          <a:prstGeom prst="teardrop">
            <a:avLst/>
          </a:prstGeom>
          <a:solidFill>
            <a:srgbClr val="72B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ardrop 12"/>
          <p:cNvSpPr/>
          <p:nvPr/>
        </p:nvSpPr>
        <p:spPr>
          <a:xfrm>
            <a:off x="9006840" y="3858768"/>
            <a:ext cx="219456" cy="411480"/>
          </a:xfrm>
          <a:prstGeom prst="teardrop">
            <a:avLst/>
          </a:prstGeom>
          <a:solidFill>
            <a:srgbClr val="72B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ardrop 13"/>
          <p:cNvSpPr/>
          <p:nvPr/>
        </p:nvSpPr>
        <p:spPr>
          <a:xfrm>
            <a:off x="9601200" y="3858768"/>
            <a:ext cx="219456" cy="411480"/>
          </a:xfrm>
          <a:prstGeom prst="teardrop">
            <a:avLst/>
          </a:prstGeom>
          <a:solidFill>
            <a:srgbClr val="72B7E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40080" y="5650992"/>
            <a:ext cx="10835640" cy="62179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5650992"/>
            <a:ext cx="109728" cy="6217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41247" y="5742431"/>
            <a:ext cx="10488167" cy="384048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13547"/>
                </a:solidFill>
                <a:latin typeface="PingFang SC"/>
                <a:ea typeface="PingFang SC"/>
              </a:rPr>
              <a:t>问问大家：下雨天出门，我们要带什么？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8368" y="647395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C6E7C"/>
                </a:solidFill>
                <a:latin typeface="PingFang SC"/>
                <a:ea typeface="PingFang SC"/>
              </a:rPr>
              <a:t>天气：wttr.in 上海，获取于2026-09-28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652760" y="6428232"/>
            <a:ext cx="64008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C6E7C"/>
                </a:solidFill>
                <a:latin typeface="PingFang SC"/>
                <a:ea typeface="PingFang SC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8F7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631168" y="-182880"/>
            <a:ext cx="822960" cy="722376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6766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6B6B"/>
                </a:solidFill>
                <a:latin typeface="PingFang SC"/>
                <a:ea typeface="PingFang SC"/>
              </a:rPr>
              <a:t>动物新闻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698480" cy="786384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213547"/>
                </a:solidFill>
                <a:latin typeface="PingFang SC"/>
                <a:ea typeface="PingFang SC"/>
              </a:rPr>
              <a:t>两只大熊猫搬新家</a:t>
            </a:r>
          </a:p>
        </p:txBody>
      </p:sp>
      <p:pic>
        <p:nvPicPr>
          <p:cNvPr id="6" name="Picture 5" descr="pandas.jpg"/>
          <p:cNvPicPr>
            <a:picLocks noChangeAspect="1"/>
          </p:cNvPicPr>
          <p:nvPr/>
        </p:nvPicPr>
        <p:blipFill>
          <a:blip r:embed="rId2"/>
          <a:srcRect l="4985" r="4985"/>
          <a:stretch>
            <a:fillRect/>
          </a:stretch>
        </p:blipFill>
        <p:spPr>
          <a:xfrm>
            <a:off x="658368" y="1664208"/>
            <a:ext cx="5532120" cy="345643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565392" y="1755648"/>
            <a:ext cx="4297680" cy="1024128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600" b="1">
                <a:solidFill>
                  <a:srgbClr val="213547"/>
                </a:solidFill>
                <a:latin typeface="PingFang SC"/>
                <a:ea typeface="PingFang SC"/>
              </a:rPr>
              <a:t>平平和福双已经到达美国亚特兰大动物园。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65392" y="2944368"/>
            <a:ext cx="4297680" cy="1115568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300" b="0">
                <a:solidFill>
                  <a:srgbClr val="213547"/>
                </a:solidFill>
                <a:latin typeface="PingFang SC"/>
                <a:ea typeface="PingFang SC"/>
              </a:rPr>
              <a:t>它们要先体检、熟悉新家，之后才和游客见面。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50992"/>
            <a:ext cx="10835640" cy="62179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109728" cy="6217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5742431"/>
            <a:ext cx="10488167" cy="384048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13547"/>
                </a:solidFill>
                <a:latin typeface="PingFang SC"/>
                <a:ea typeface="PingFang SC"/>
              </a:rPr>
              <a:t>一起想：如果你是熊猫饲养员，会准备什么？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C6E7C"/>
                </a:solidFill>
                <a:latin typeface="PingFang SC"/>
                <a:ea typeface="PingFang SC"/>
              </a:rPr>
              <a:t>来源：新华社（2026-09-28）｜图片：央视新闻画面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2760" y="6428232"/>
            <a:ext cx="64008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C6E7C"/>
                </a:solidFill>
                <a:latin typeface="PingFang SC"/>
                <a:ea typeface="PingFang SC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0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631168" y="-182880"/>
            <a:ext cx="822960" cy="722376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6766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6B6B"/>
                </a:solidFill>
                <a:latin typeface="PingFang SC"/>
                <a:ea typeface="PingFang SC"/>
              </a:rPr>
              <a:t>科学新闻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698480" cy="786384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213547"/>
                </a:solidFill>
                <a:latin typeface="PingFang SC"/>
                <a:ea typeface="PingFang SC"/>
              </a:rPr>
              <a:t>科学家给孩子写信</a:t>
            </a:r>
          </a:p>
        </p:txBody>
      </p:sp>
      <p:pic>
        <p:nvPicPr>
          <p:cNvPr id="6" name="Picture 5" descr="science-letters.jpg"/>
          <p:cNvPicPr>
            <a:picLocks noChangeAspect="1"/>
          </p:cNvPicPr>
          <p:nvPr/>
        </p:nvPicPr>
        <p:blipFill>
          <a:blip r:embed="rId2"/>
          <a:srcRect l="9886" r="9886"/>
          <a:stretch>
            <a:fillRect/>
          </a:stretch>
        </p:blipFill>
        <p:spPr>
          <a:xfrm>
            <a:off x="6629400" y="1609344"/>
            <a:ext cx="4297680" cy="3401568"/>
          </a:xfrm>
          <a:prstGeom prst="rect">
            <a:avLst/>
          </a:prstGeom>
        </p:spPr>
      </p:pic>
      <p:sp>
        <p:nvSpPr>
          <p:cNvPr id="7" name="Rounded Rectangle 6"/>
          <p:cNvSpPr/>
          <p:nvPr/>
        </p:nvSpPr>
        <p:spPr>
          <a:xfrm>
            <a:off x="658368" y="1719072"/>
            <a:ext cx="5349240" cy="8046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04672" y="1856231"/>
            <a:ext cx="502920" cy="50292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4672" y="1920240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883664"/>
            <a:ext cx="4206240" cy="43891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13547"/>
                </a:solidFill>
                <a:latin typeface="PingFang SC"/>
                <a:ea typeface="PingFang SC"/>
              </a:rPr>
              <a:t>好奇地看看海底有什么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58368" y="2779776"/>
            <a:ext cx="5349240" cy="8046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804672" y="2916936"/>
            <a:ext cx="502920" cy="50292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04672" y="2980944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944368"/>
            <a:ext cx="4206240" cy="43891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13547"/>
                </a:solidFill>
                <a:latin typeface="PingFang SC"/>
                <a:ea typeface="PingFang SC"/>
              </a:rPr>
              <a:t>去发现地球的小秘密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8368" y="3840479"/>
            <a:ext cx="5349240" cy="80467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4672" y="3977639"/>
            <a:ext cx="502920" cy="50292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4041647"/>
            <a:ext cx="50292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ctr"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08760" y="4005071"/>
            <a:ext cx="4206240" cy="43891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100" b="1">
                <a:solidFill>
                  <a:srgbClr val="213547"/>
                </a:solidFill>
                <a:latin typeface="PingFang SC"/>
                <a:ea typeface="PingFang SC"/>
              </a:rPr>
              <a:t>数学难，也要勇敢想一想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650992"/>
            <a:ext cx="10835640" cy="62179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650992"/>
            <a:ext cx="109728" cy="6217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1247" y="5742431"/>
            <a:ext cx="10488167" cy="384048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13547"/>
                </a:solidFill>
                <a:latin typeface="PingFang SC"/>
                <a:ea typeface="PingFang SC"/>
              </a:rPr>
              <a:t>你最想问科学家什么问题？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8368" y="647395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C6E7C"/>
                </a:solidFill>
                <a:latin typeface="PingFang SC"/>
                <a:ea typeface="PingFang SC"/>
              </a:rPr>
              <a:t>来源：中国科学院转人民日报（2026-09-28）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652760" y="6428232"/>
            <a:ext cx="64008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C6E7C"/>
                </a:solidFill>
                <a:latin typeface="PingFang SC"/>
                <a:ea typeface="PingFang SC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9F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631168" y="-182880"/>
            <a:ext cx="822960" cy="722376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6766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6B6B"/>
                </a:solidFill>
                <a:latin typeface="PingFang SC"/>
                <a:ea typeface="PingFang SC"/>
              </a:rPr>
              <a:t>太空看地球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698480" cy="786384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213547"/>
                </a:solidFill>
                <a:latin typeface="PingFang SC"/>
                <a:ea typeface="PingFang SC"/>
              </a:rPr>
              <a:t>卫星拍到什么？</a:t>
            </a:r>
          </a:p>
        </p:txBody>
      </p:sp>
      <p:pic>
        <p:nvPicPr>
          <p:cNvPr id="6" name="Picture 5" descr="satellite-puzzler.jpg"/>
          <p:cNvPicPr>
            <a:picLocks noChangeAspect="1"/>
          </p:cNvPicPr>
          <p:nvPr/>
        </p:nvPicPr>
        <p:blipFill>
          <a:blip r:embed="rId2"/>
          <a:srcRect t="3553" b="3553"/>
          <a:stretch>
            <a:fillRect/>
          </a:stretch>
        </p:blipFill>
        <p:spPr>
          <a:xfrm>
            <a:off x="658368" y="1609344"/>
            <a:ext cx="5760720" cy="35661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784848" y="1783080"/>
            <a:ext cx="4069080" cy="105156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500" b="1">
                <a:solidFill>
                  <a:srgbClr val="213547"/>
                </a:solidFill>
                <a:latin typeface="PingFang SC"/>
                <a:ea typeface="PingFang SC"/>
              </a:rPr>
              <a:t>这是卫星从太空拍下的美国瓦斯克斯岩。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84848" y="3063240"/>
            <a:ext cx="4069080" cy="117043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213547"/>
                </a:solidFill>
                <a:latin typeface="PingFang SC"/>
                <a:ea typeface="PingFang SC"/>
              </a:rPr>
              <a:t>深绿色是比较湿润的植物，灰色弯线是一条公路。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5650992"/>
            <a:ext cx="10835640" cy="62179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5650992"/>
            <a:ext cx="109728" cy="6217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41247" y="5742431"/>
            <a:ext cx="10488167" cy="384048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13547"/>
                </a:solidFill>
                <a:latin typeface="PingFang SC"/>
                <a:ea typeface="PingFang SC"/>
              </a:rPr>
              <a:t>先别说答案：它像树叶、恐龙，还是一幅画？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" y="647395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C6E7C"/>
                </a:solidFill>
                <a:latin typeface="PingFang SC"/>
                <a:ea typeface="PingFang SC"/>
              </a:rPr>
              <a:t>来源与图片：NASA Earth Observatory / Landsat 9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652760" y="6428232"/>
            <a:ext cx="64008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C6E7C"/>
                </a:solidFill>
                <a:latin typeface="PingFang SC"/>
                <a:ea typeface="PingFang SC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1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1631168" y="-182880"/>
            <a:ext cx="822960" cy="722376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94360" y="384048"/>
            <a:ext cx="6766560" cy="34747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FF6B6B"/>
                </a:solidFill>
                <a:latin typeface="PingFang SC"/>
                <a:ea typeface="PingFang SC"/>
              </a:rPr>
              <a:t>记忆挑战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49808"/>
            <a:ext cx="10698480" cy="786384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3100" b="1">
                <a:solidFill>
                  <a:srgbClr val="213547"/>
                </a:solidFill>
                <a:latin typeface="PingFang SC"/>
                <a:ea typeface="PingFang SC"/>
              </a:rPr>
              <a:t>今天你记住了吗？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847088"/>
            <a:ext cx="3273552" cy="2423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86968" y="2075688"/>
            <a:ext cx="594360" cy="594360"/>
          </a:xfrm>
          <a:prstGeom prst="roundRect">
            <a:avLst/>
          </a:prstGeom>
          <a:solidFill>
            <a:srgbClr val="63C7B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221992"/>
            <a:ext cx="59436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13547"/>
                </a:solidFill>
                <a:latin typeface="PingFang SC"/>
                <a:ea typeface="PingFang SC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0976" y="2962656"/>
            <a:ext cx="2688336" cy="82296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213547"/>
                </a:solidFill>
                <a:latin typeface="PingFang SC"/>
                <a:ea typeface="PingFang SC"/>
              </a:rPr>
              <a:t>熊猫叫什么名字？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1847088"/>
            <a:ext cx="3273552" cy="2423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0" y="2075688"/>
            <a:ext cx="594360" cy="594360"/>
          </a:xfrm>
          <a:prstGeom prst="roundRect">
            <a:avLst/>
          </a:prstGeom>
          <a:solidFill>
            <a:srgbClr val="FFC8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0" y="2221992"/>
            <a:ext cx="59436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13547"/>
                </a:solidFill>
                <a:latin typeface="PingFang SC"/>
                <a:ea typeface="PingFang SC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2962656"/>
            <a:ext cx="2688336" cy="82296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213547"/>
                </a:solidFill>
                <a:latin typeface="PingFang SC"/>
                <a:ea typeface="PingFang SC"/>
              </a:rPr>
              <a:t>今天出门带什么？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2" y="1847088"/>
            <a:ext cx="3273552" cy="2423160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257032" y="2075688"/>
            <a:ext cx="594360" cy="594360"/>
          </a:xfrm>
          <a:prstGeom prst="roundRect">
            <a:avLst/>
          </a:prstGeom>
          <a:solidFill>
            <a:srgbClr val="72B7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2221992"/>
            <a:ext cx="59436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ctr">
              <a:spcAft>
                <a:spcPts val="0"/>
              </a:spcAft>
            </a:pPr>
            <a:r>
              <a:rPr sz="1600" b="1">
                <a:solidFill>
                  <a:srgbClr val="213547"/>
                </a:solidFill>
                <a:latin typeface="PingFang SC"/>
                <a:ea typeface="PingFang SC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962656"/>
            <a:ext cx="2688336" cy="82296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ctr">
              <a:spcAft>
                <a:spcPts val="0"/>
              </a:spcAft>
            </a:pPr>
            <a:r>
              <a:rPr sz="2300" b="1">
                <a:solidFill>
                  <a:srgbClr val="213547"/>
                </a:solidFill>
                <a:latin typeface="PingFang SC"/>
                <a:ea typeface="PingFang SC"/>
              </a:rPr>
              <a:t>卫星从哪里拍地球？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650992"/>
            <a:ext cx="10835640" cy="621792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650992"/>
            <a:ext cx="109728" cy="621792"/>
          </a:xfrm>
          <a:prstGeom prst="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7" y="5742431"/>
            <a:ext cx="10488167" cy="384048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800" b="1">
                <a:solidFill>
                  <a:srgbClr val="213547"/>
                </a:solidFill>
                <a:latin typeface="PingFang SC"/>
                <a:ea typeface="PingFang SC"/>
              </a:rPr>
              <a:t>请三位同学，每人回答一道题。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6473952"/>
            <a:ext cx="9875520" cy="18288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800" b="0">
                <a:solidFill>
                  <a:srgbClr val="5C6E7C"/>
                </a:solidFill>
                <a:latin typeface="PingFang SC"/>
                <a:ea typeface="PingFang SC"/>
              </a:rPr>
              <a:t>回答后别忘了说：谢谢你的回答。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52760" y="6428232"/>
            <a:ext cx="64008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5C6E7C"/>
                </a:solidFill>
                <a:latin typeface="PingFang SC"/>
                <a:ea typeface="PingFang SC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135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046720" y="-1645920"/>
            <a:ext cx="5303520" cy="5303520"/>
          </a:xfrm>
          <a:prstGeom prst="roundRect">
            <a:avLst/>
          </a:prstGeom>
          <a:solidFill>
            <a:srgbClr val="FF6B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841248"/>
            <a:ext cx="4572000" cy="384048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FC857"/>
                </a:solidFill>
                <a:latin typeface="PingFang SC"/>
                <a:ea typeface="PingFang SC"/>
              </a:rPr>
              <a:t>今天的关键词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13232" y="1444752"/>
            <a:ext cx="9601200" cy="2084831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4700" b="1">
                <a:solidFill>
                  <a:srgbClr val="FFFFFF"/>
                </a:solidFill>
                <a:latin typeface="PingFang SC"/>
                <a:ea typeface="PingFang SC"/>
              </a:rPr>
              <a:t>好奇 · 观察
勇敢表达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4069080"/>
            <a:ext cx="7315200" cy="6858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FFFFF"/>
                </a:solidFill>
                <a:latin typeface="PingFang SC"/>
                <a:ea typeface="PingFang SC"/>
              </a:rPr>
              <a:t>谢谢大家听我分享！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5047488"/>
            <a:ext cx="7132320" cy="658368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50976" y="5193792"/>
            <a:ext cx="6675120" cy="329184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700" b="1">
                <a:solidFill>
                  <a:srgbClr val="213547"/>
                </a:solidFill>
                <a:latin typeface="PingFang SC"/>
                <a:ea typeface="PingFang SC"/>
              </a:rPr>
              <a:t>结束：鞠躬，说“我的分享结束了，谢谢大家”。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6272784"/>
            <a:ext cx="6858000" cy="256032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l">
              <a:spcAft>
                <a:spcPts val="0"/>
              </a:spcAft>
            </a:pPr>
            <a:r>
              <a:rPr sz="1000" b="0">
                <a:solidFill>
                  <a:srgbClr val="D7E2E8"/>
                </a:solidFill>
                <a:latin typeface="PingFang SC"/>
                <a:ea typeface="PingFang SC"/>
              </a:rPr>
              <a:t>新闻与图片仅用于课堂学习。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652760" y="6428232"/>
            <a:ext cx="640080" cy="228600"/>
          </a:xfrm>
          <a:prstGeom prst="rect">
            <a:avLst/>
          </a:prstGeom>
          <a:noFill/>
        </p:spPr>
        <p:txBody>
          <a:bodyPr wrap="square" lIns="36576" rIns="36576" tIns="36576" bIns="36576">
            <a:noAutofit/>
          </a:bodyPr>
          <a:lstStyle/>
          <a:p>
            <a:pPr algn="r"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  <a:ea typeface="PingFang SC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