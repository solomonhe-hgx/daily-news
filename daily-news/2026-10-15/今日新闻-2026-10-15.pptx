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分享日：2026-10-15（星期四）；制作与查询日：2026-10-14。</a:t>
            </a:r>
          </a:p>
          <a:p>
            <a:r>
              <a:t>新闻：https://science.nasa.gov/image-article/apod-2026-october-14-mars-and-the-beehive-under-an-aurora/</a:t>
            </a:r>
          </a:p>
          <a:p>
            <a:r>
              <a:t>图片：https://assets.science.nasa.gov/dynamicimage/assets/science/cds/apod/apod/2026/october/2026_10_10_PZ_Jesli%C4%8Dky_01_1500px.png?w=1500&amp;h=1000&amp;fit=clip&amp;crop=faces%2Cfocalpoint</a:t>
            </a:r>
          </a:p>
          <a:p>
            <a:r>
              <a:t>教学目的：我们学会抬头观察天空里的不同光点。</a:t>
            </a:r>
          </a:p>
          <a:p>
            <a:r>
              <a:t>天气：https://www.weather.com.cn/weather/101020100.shtml，10月15日阴、21—25℃。</a:t>
            </a:r>
          </a:p>
          <a:p>
            <a:r>
              <a:t>教学目的单独标出，不冒充报道中的新事实。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分享日：2026-10-15（星期四）；制作与查询日：2026-10-14。</a:t>
            </a:r>
          </a:p>
          <a:p>
            <a:r>
              <a:t>新闻：https://www.news.cn/photo/20261014/5e06d1aece0f48e1bc115b8f400cd84f/c.html</a:t>
            </a:r>
          </a:p>
          <a:p>
            <a:r>
              <a:t>图片：https://www.news.cn/photo/20261014/5e06d1aece0f48e1bc115b8f400cd84f/202610145e06d1aece0f48e1bc115b8f400cd84f_202610144e989e4efa6b4f75a427d2a66aebb29a.jpg</a:t>
            </a:r>
          </a:p>
          <a:p>
            <a:r>
              <a:t>教学目的：保护湿地，就是帮助鸟儿有地方生活。</a:t>
            </a:r>
          </a:p>
          <a:p>
            <a:r>
              <a:t>天气：https://www.weather.com.cn/weather/101020100.shtml，10月15日阴、21—25℃。</a:t>
            </a:r>
          </a:p>
          <a:p>
            <a:r>
              <a:t>教学目的单独标出，不冒充报道中的新事实。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分享日：2026-10-15（星期四）；制作与查询日：2026-10-14。</a:t>
            </a:r>
          </a:p>
          <a:p>
            <a:r>
              <a:t>新闻：https://www.news.cn/photo/20261014/4ce125bacee74025957460148e0be0cb/c.html</a:t>
            </a:r>
          </a:p>
          <a:p>
            <a:r>
              <a:t>图片：https://www.news.cn/photo/20261014/4ce125bacee74025957460148e0be0cb/202610144ce125bacee74025957460148e0be0cb_20261014313b7d0a7d744209a8233e013e8f24ab.jpg</a:t>
            </a:r>
          </a:p>
          <a:p>
            <a:r>
              <a:t>教学目的：云海不是海水，它是大片云雾。</a:t>
            </a:r>
          </a:p>
          <a:p>
            <a:r>
              <a:t>天气：https://www.weather.com.cn/weather/101020100.shtml，10月15日阴、21—25℃。</a:t>
            </a:r>
          </a:p>
          <a:p>
            <a:r>
              <a:t>教学目的单独标出，不冒充报道中的新事实。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weather.com.cn/weather/101020100.shtml" TargetMode="External"/><Relationship Id="rId3" Type="http://schemas.openxmlformats.org/officeDocument/2006/relationships/image" Target="../media/image1.png"/><Relationship Id="rId4" Type="http://schemas.openxmlformats.org/officeDocument/2006/relationships/hyperlink" Target="https://science.nasa.gov/image-article/apod-2026-october-14-mars-and-the-beehive-under-an-aurora/" TargetMode="External"/><Relationship Id="rId5" Type="http://schemas.openxmlformats.org/officeDocument/2006/relationships/hyperlink" Target="https://assets.science.nasa.gov/dynamicimage/assets/science/cds/apod/apod/2026/october/2026_10_10_PZ_Jesli%C4%8Dky_01_1500px.png?w=1500&amp;h=1000&amp;fit=clip&amp;crop=faces%2Cfocalpoint" TargetMode="External"/><Relationship Id="rId6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weather.com.cn/weather/101020100.shtml" TargetMode="External"/><Relationship Id="rId3" Type="http://schemas.openxmlformats.org/officeDocument/2006/relationships/image" Target="../media/image2.png"/><Relationship Id="rId4" Type="http://schemas.openxmlformats.org/officeDocument/2006/relationships/hyperlink" Target="https://www.usst.edu.cn/2026/1013/c934a70469/page.htm" TargetMode="External"/><Relationship Id="rId5" Type="http://schemas.openxmlformats.org/officeDocument/2006/relationships/hyperlink" Target="https://www.usst.edu.cn/_upload/article/images/1f/bb/0261a7d24ecf98badb13549ff86d/e78bc55d-e3e9-475a-a9be-e47ee7a9c130.png" TargetMode="External"/><Relationship Id="rId6" Type="http://schemas.openxmlformats.org/officeDocument/2006/relationships/notesSlide" Target="../notesSlides/notesSlide2.xml"/><Relationship Id="rId7" Type="http://schemas.openxmlformats.org/officeDocument/2006/relationships/image" Target="../media/image4.png"/><Relationship Id="rId8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weather.com.cn/weather/101020100.shtml" TargetMode="External"/><Relationship Id="rId3" Type="http://schemas.openxmlformats.org/officeDocument/2006/relationships/image" Target="../media/image3.png"/><Relationship Id="rId4" Type="http://schemas.openxmlformats.org/officeDocument/2006/relationships/hyperlink" Target="https://tyj.beijing.gov.cn/bjsports/gzdt84/zwdt/744139258/index.html" TargetMode="External"/><Relationship Id="rId5" Type="http://schemas.openxmlformats.org/officeDocument/2006/relationships/hyperlink" Target="https://tyj.beijing.gov.cn/bjsports/gzdt84/zwdt/744139258/2026101414495537191.jpg" TargetMode="External"/><Relationship Id="rId6" Type="http://schemas.openxmlformats.org/officeDocument/2006/relationships/notesSlide" Target="../notesSlides/notesSlide3.xml"/><Relationship Id="rId7" Type="http://schemas.openxmlformats.org/officeDocument/2006/relationships/image" Target="../media/image6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9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4572000" cy="64008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254537"/>
                </a:solidFill>
                <a:latin typeface="PingFang SC"/>
                <a:ea typeface="PingFang SC"/>
              </a:rPr>
              <a:t>今日新闻  1/3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21040" y="274320"/>
            <a:ext cx="5760720" cy="438912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54537"/>
                </a:solidFill>
                <a:latin typeface="PingFang SC"/>
                <a:ea typeface="PingFang SC"/>
              </a:rPr>
              <a:t>2026年10月15日 星期四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0" y="722376"/>
            <a:ext cx="5760720" cy="438912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54537"/>
                </a:solidFill>
                <a:latin typeface="PingFang SC"/>
                <a:ea typeface="PingFang SC"/>
                <a:hlinkClick r:id="rId2"/>
              </a:rPr>
              <a:t>上海 阴 19—24℃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7589520" cy="5715000"/>
          </a:xfrm>
          <a:prstGeom prst="roundRect">
            <a:avLst>
              <a:gd name="adj" fmla="val 12000"/>
            </a:avLst>
          </a:prstGeom>
          <a:solidFill>
            <a:srgbClr val="FBED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auror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615440"/>
            <a:ext cx="7223760" cy="48158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6537960"/>
            <a:ext cx="704088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54537"/>
                </a:solidFill>
                <a:latin typeface="PingFang SC"/>
                <a:ea typeface="PingFang SC"/>
              </a:rPr>
              <a:t>图里：绿色和粉色极光挂在火星上方。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66760" y="1508760"/>
            <a:ext cx="5715000" cy="146304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254537"/>
                </a:solidFill>
                <a:latin typeface="PingFang SC"/>
                <a:ea typeface="PingFang SC"/>
              </a:rPr>
              <a:t>瑞典夜空拍到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254537"/>
                </a:solidFill>
                <a:latin typeface="PingFang SC"/>
                <a:ea typeface="PingFang SC"/>
              </a:rPr>
              <a:t>极光和火星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66760" y="3246120"/>
            <a:ext cx="5577840" cy="118872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254537"/>
                </a:solidFill>
                <a:latin typeface="PingFang SC"/>
                <a:ea typeface="PingFang SC"/>
              </a:rPr>
              <a:t>瑞典夜空的彩色极光，被拍成了照片。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66760" y="4572000"/>
            <a:ext cx="5577840" cy="114300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254537"/>
                </a:solidFill>
                <a:latin typeface="PingFang SC"/>
                <a:ea typeface="PingFang SC"/>
              </a:rPr>
              <a:t>照片里，火星正好在一群小星星旁边。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39327" y="5925312"/>
            <a:ext cx="5715000" cy="1024128"/>
          </a:xfrm>
          <a:prstGeom prst="roundRect">
            <a:avLst>
              <a:gd name="adj" fmla="val 12000"/>
            </a:avLst>
          </a:prstGeom>
          <a:solidFill>
            <a:srgbClr val="FBED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0" y="6080760"/>
            <a:ext cx="5394960" cy="758952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D75D3D"/>
                </a:solidFill>
                <a:latin typeface="PingFang SC"/>
                <a:ea typeface="PingFang SC"/>
              </a:rPr>
              <a:t>我们学会抬头观察天空里的不同光点。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7324344"/>
            <a:ext cx="7315200" cy="310896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54537"/>
                </a:solidFill>
                <a:latin typeface="PingFang SC"/>
                <a:ea typeface="PingFang SC"/>
                <a:hlinkClick r:id="rId4"/>
              </a:rPr>
              <a:t>新闻原文：NASA · 2026-10-14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7680960"/>
            <a:ext cx="12070080" cy="310896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54537"/>
                </a:solidFill>
                <a:latin typeface="PingFang SC"/>
                <a:ea typeface="PingFang SC"/>
                <a:hlinkClick r:id="rId5"/>
              </a:rPr>
              <a:t>图片来源：Petr Horálek、Josef Kujal、Vojan Höfer · 拍摄时间原文未注明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7324344"/>
            <a:ext cx="5760720" cy="310896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54537"/>
                </a:solidFill>
                <a:latin typeface="PingFang SC"/>
                <a:ea typeface="PingFang SC"/>
                <a:hlinkClick r:id="rId2"/>
              </a:rPr>
              <a:t>天气预报：中国天气网 · 10月14日20:06查询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9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4572000" cy="64008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254537"/>
                </a:solidFill>
                <a:latin typeface="PingFang SC"/>
                <a:ea typeface="PingFang SC"/>
              </a:rPr>
              <a:t>今日新闻  2/3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21040" y="274320"/>
            <a:ext cx="5760720" cy="438912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54537"/>
                </a:solidFill>
                <a:latin typeface="PingFang SC"/>
                <a:ea typeface="PingFang SC"/>
              </a:rPr>
              <a:t>2026年10月15日 星期四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0" y="722376"/>
            <a:ext cx="5760720" cy="438912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54537"/>
                </a:solidFill>
                <a:latin typeface="PingFang SC"/>
                <a:ea typeface="PingFang SC"/>
                <a:hlinkClick r:id="rId2"/>
              </a:rPr>
              <a:t>上海 阴 19—24℃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7589520" cy="5715000"/>
          </a:xfrm>
          <a:prstGeom prst="roundRect">
            <a:avLst>
              <a:gd name="adj" fmla="val 12000"/>
            </a:avLst>
          </a:prstGeom>
          <a:solidFill>
            <a:srgbClr val="E9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5" descr="safety-robo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0080" y="2293269"/>
            <a:ext cx="7223760" cy="346018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6537960"/>
            <a:ext cx="704088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54537"/>
                </a:solidFill>
                <a:latin typeface="PingFang SC"/>
                <a:ea typeface="PingFang SC"/>
              </a:rPr>
              <a:t>图里：机器人在展馆里巡逻，并用屏幕发出安全提醒。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66760" y="1508760"/>
            <a:ext cx="5715000" cy="146304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254537"/>
                </a:solidFill>
                <a:latin typeface="PingFang SC"/>
                <a:ea typeface="PingFang SC"/>
              </a:rPr>
              <a:t>安全机器人会
提醒危险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254537"/>
                </a:solidFill>
                <a:latin typeface="PingFang SC"/>
                <a:ea typeface="PingFang SC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66760" y="3246120"/>
            <a:ext cx="5577840" cy="118872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254537"/>
                </a:solidFill>
                <a:latin typeface="PingFang SC"/>
                <a:ea typeface="PingFang SC"/>
              </a:rPr>
              <a:t>10月9日至10日，机器人在上海的展馆里做安全检查。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66760" y="4572000"/>
            <a:ext cx="5577840" cy="114300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254537"/>
                </a:solidFill>
                <a:latin typeface="PingFang SC"/>
                <a:ea typeface="PingFang SC"/>
              </a:rPr>
              <a:t>它能发现一些施工危险，还会用屏幕和声音提醒大家。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39327" y="5925312"/>
            <a:ext cx="5715000" cy="1024128"/>
          </a:xfrm>
          <a:prstGeom prst="roundRect">
            <a:avLst>
              <a:gd name="adj" fmla="val 12000"/>
            </a:avLst>
          </a:prstGeom>
          <a:solidFill>
            <a:srgbClr val="E9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0" y="6080760"/>
            <a:ext cx="5394960" cy="758952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D75D3D"/>
                </a:solidFill>
                <a:latin typeface="PingFang SC"/>
                <a:ea typeface="PingFang SC"/>
              </a:rPr>
              <a:t>机器人不只会表演，也能帮助工作人员守护安全。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7324344"/>
            <a:ext cx="7315200" cy="310896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54537"/>
                </a:solidFill>
                <a:latin typeface="PingFang SC"/>
                <a:ea typeface="PingFang SC"/>
                <a:hlinkClick r:id="rId4"/>
              </a:rPr>
              <a:t>新闻原文：上海理工大学 · 2026-10-14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7680960"/>
            <a:ext cx="12070080" cy="310896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54537"/>
                </a:solidFill>
                <a:latin typeface="PingFang SC"/>
                <a:ea typeface="PingFang SC"/>
                <a:hlinkClick r:id="rId5"/>
              </a:rPr>
              <a:t>图片来源：黄中意 / 上海理工大学 · 活动 2026-10-09至10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7324344"/>
            <a:ext cx="5760720" cy="310896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54537"/>
                </a:solidFill>
                <a:latin typeface="PingFang SC"/>
                <a:ea typeface="PingFang SC"/>
                <a:hlinkClick r:id="rId2"/>
              </a:rPr>
              <a:t>天气预报：中国天气网 · 10月14日20:06查询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9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4572000" cy="64008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254537"/>
                </a:solidFill>
                <a:latin typeface="PingFang SC"/>
                <a:ea typeface="PingFang SC"/>
              </a:rPr>
              <a:t>今日新闻  3/3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21040" y="274320"/>
            <a:ext cx="5760720" cy="438912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54537"/>
                </a:solidFill>
                <a:latin typeface="PingFang SC"/>
                <a:ea typeface="PingFang SC"/>
              </a:rPr>
              <a:t>2026年10月15日 星期四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0" y="722376"/>
            <a:ext cx="5760720" cy="438912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54537"/>
                </a:solidFill>
                <a:latin typeface="PingFang SC"/>
                <a:ea typeface="PingFang SC"/>
                <a:hlinkClick r:id="rId2"/>
              </a:rPr>
              <a:t>上海 阴 19—24℃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7589520" cy="5715000"/>
          </a:xfrm>
          <a:prstGeom prst="roundRect">
            <a:avLst>
              <a:gd name="adj" fmla="val 12000"/>
            </a:avLst>
          </a:prstGeom>
          <a:solidFill>
            <a:srgbClr val="FBED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5" descr="youth-football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1145" y="1990987"/>
            <a:ext cx="7221628" cy="406474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6537960"/>
            <a:ext cx="704088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54537"/>
                </a:solidFill>
                <a:latin typeface="PingFang SC"/>
                <a:ea typeface="PingFang SC"/>
              </a:rPr>
              <a:t>图里：小球员在场边和教练击掌。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66760" y="1508760"/>
            <a:ext cx="5715000" cy="146304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254537"/>
                </a:solidFill>
                <a:latin typeface="PingFang SC"/>
                <a:ea typeface="PingFang SC"/>
              </a:rPr>
              <a:t>16支少年球队
在北京开赛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254537"/>
                </a:solidFill>
                <a:latin typeface="PingFang SC"/>
                <a:ea typeface="PingFang SC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66760" y="3246120"/>
            <a:ext cx="5577840" cy="118872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254537"/>
                </a:solidFill>
                <a:latin typeface="PingFang SC"/>
                <a:ea typeface="PingFang SC"/>
              </a:rPr>
              <a:t>10月13日，16支11岁以下少年球队在北京参加足球邀请赛。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66760" y="4572000"/>
            <a:ext cx="5577840" cy="114300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254537"/>
                </a:solidFill>
                <a:latin typeface="PingFang SC"/>
                <a:ea typeface="PingFang SC"/>
              </a:rPr>
              <a:t>224名小球员会在比赛里练习传球、合作和友谊。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39327" y="5925312"/>
            <a:ext cx="5715000" cy="1024128"/>
          </a:xfrm>
          <a:prstGeom prst="roundRect">
            <a:avLst>
              <a:gd name="adj" fmla="val 12000"/>
            </a:avLst>
          </a:prstGeom>
          <a:solidFill>
            <a:srgbClr val="FBED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0" y="6080760"/>
            <a:ext cx="5394960" cy="758952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D75D3D"/>
                </a:solidFill>
                <a:latin typeface="PingFang SC"/>
                <a:ea typeface="PingFang SC"/>
              </a:rPr>
              <a:t>足球不是一个人踢的，队友合作才能一起向前。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7324344"/>
            <a:ext cx="7315200" cy="310896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54537"/>
                </a:solidFill>
                <a:latin typeface="PingFang SC"/>
                <a:ea typeface="PingFang SC"/>
                <a:hlinkClick r:id="rId4"/>
              </a:rPr>
              <a:t>新闻原文：北京市体育局 · 2026-10-14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7680960"/>
            <a:ext cx="12070080" cy="310896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54537"/>
                </a:solidFill>
                <a:latin typeface="PingFang SC"/>
                <a:ea typeface="PingFang SC"/>
                <a:hlinkClick r:id="rId5"/>
              </a:rPr>
              <a:t>图片来源：北京市体育局（页面未注明摄影者）· 活动 2026-10-13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7324344"/>
            <a:ext cx="5760720" cy="310896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54537"/>
                </a:solidFill>
                <a:latin typeface="PingFang SC"/>
                <a:ea typeface="PingFang SC"/>
                <a:hlinkClick r:id="rId2"/>
              </a:rPr>
              <a:t>天气预报：中国天气网 · 10月14日20:06查询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今日新闻 · 2026-10-15</dc:title>
  <dc:subject>幼儿园大班 · 3条真实新闻 · 每条一页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