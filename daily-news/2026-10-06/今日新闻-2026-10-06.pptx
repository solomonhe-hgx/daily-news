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20040"/>
            <a:ext cx="4114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34747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6384A"/>
                </a:solidFill>
                <a:latin typeface="PingFang SC"/>
                <a:ea typeface="PingFang SC"/>
              </a:rPr>
              <a:t>10月6日 星期二 上海 晴 15—23℃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EA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39"/>
            <a:ext cx="365760" cy="36576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39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9" name="Picture 8" descr="aur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303520" cy="1645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3017520"/>
            <a:ext cx="5120640" cy="256032"/>
          </a:xfrm>
          <a:prstGeom prst="roundRect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5212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800"/>
              </a:lnSpc>
            </a:pPr>
            <a:r>
              <a:rPr sz="1400" b="1">
                <a:solidFill>
                  <a:srgbClr val="26384A"/>
                </a:solidFill>
                <a:latin typeface="PingFang SC"/>
                <a:ea typeface="PingFang SC"/>
              </a:rPr>
              <a:t>黑龙江夜空出现美丽的绿色极光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5212079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</a:pPr>
            <a:r>
              <a:rPr sz="1100" b="0">
                <a:solidFill>
                  <a:srgbClr val="26384A"/>
                </a:solidFill>
                <a:latin typeface="PingFang SC"/>
                <a:ea typeface="PingFang SC"/>
              </a:rPr>
              <a:t>10月4日晚上，黑龙江好几个地方看到了极光。</a:t>
            </a:r>
          </a:p>
          <a:p>
            <a:pPr algn="l">
              <a:lnSpc>
                <a:spcPts val="1500"/>
              </a:lnSpc>
              <a:spcAft>
                <a:spcPts val="200"/>
              </a:spcAft>
            </a:pPr>
            <a:r>
              <a:rPr sz="1100" b="0">
                <a:solidFill>
                  <a:srgbClr val="26384A"/>
                </a:solidFill>
                <a:latin typeface="PingFang SC"/>
                <a:ea typeface="PingFang SC"/>
              </a:rPr>
              <a:t>绿色和紫色的光像彩带一样飘在天上。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2120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400"/>
              </a:lnSpc>
            </a:pPr>
            <a:r>
              <a:rPr sz="1100" b="1">
                <a:solidFill>
                  <a:srgbClr val="FF6475"/>
                </a:solidFill>
                <a:latin typeface="PingFang SC"/>
                <a:ea typeface="PingFang SC"/>
              </a:rPr>
              <a:t>你觉得极光像什么？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212079" cy="1828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000"/>
              </a:lnSpc>
            </a:pPr>
            <a:r>
              <a:rPr sz="700" b="0">
                <a:solidFill>
                  <a:srgbClr val="657482"/>
                </a:solidFill>
                <a:latin typeface="PingFang SC"/>
                <a:ea typeface="PingFang SC"/>
              </a:rPr>
              <a:t>新华社 · 10月5日  图：AI生成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577840" cy="5303520"/>
          </a:xfrm>
          <a:prstGeom prst="roundRect">
            <a:avLst/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234439"/>
            <a:ext cx="365760" cy="36576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234439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18" name="Picture 17" descr="robo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303520" cy="16459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46520" y="3017520"/>
            <a:ext cx="5120640" cy="256032"/>
          </a:xfrm>
          <a:prstGeom prst="roundRect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5212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800"/>
              </a:lnSpc>
            </a:pPr>
            <a:r>
              <a:rPr sz="1400" b="1">
                <a:solidFill>
                  <a:srgbClr val="26384A"/>
                </a:solidFill>
                <a:latin typeface="PingFang SC"/>
                <a:ea typeface="PingFang SC"/>
              </a:rPr>
              <a:t>安徽商场里机器人给小朋友做爆米花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5212079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</a:pPr>
            <a:r>
              <a:rPr sz="1100" b="0">
                <a:solidFill>
                  <a:srgbClr val="26384A"/>
                </a:solidFill>
                <a:latin typeface="PingFang SC"/>
                <a:ea typeface="PingFang SC"/>
              </a:rPr>
              <a:t>国庆假期，安徽的商场里来了机器人店员。</a:t>
            </a:r>
          </a:p>
          <a:p>
            <a:pPr algn="l">
              <a:lnSpc>
                <a:spcPts val="1500"/>
              </a:lnSpc>
              <a:spcAft>
                <a:spcPts val="200"/>
              </a:spcAft>
            </a:pPr>
            <a:r>
              <a:rPr sz="1100" b="0">
                <a:solidFill>
                  <a:srgbClr val="26384A"/>
                </a:solidFill>
                <a:latin typeface="PingFang SC"/>
                <a:ea typeface="PingFang SC"/>
              </a:rPr>
              <a:t>它们会做爆米花、还会和小朋友一起踢球！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52120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400"/>
              </a:lnSpc>
            </a:pPr>
            <a:r>
              <a:rPr sz="1100" b="1">
                <a:solidFill>
                  <a:srgbClr val="FF6475"/>
                </a:solidFill>
                <a:latin typeface="PingFang SC"/>
                <a:ea typeface="PingFang SC"/>
              </a:rPr>
              <a:t>你想和机器人玩什么？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5212079" cy="1828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000"/>
              </a:lnSpc>
            </a:pPr>
            <a:r>
              <a:rPr sz="700" b="0">
                <a:solidFill>
                  <a:srgbClr val="657482"/>
                </a:solidFill>
                <a:latin typeface="PingFang SC"/>
                <a:ea typeface="PingFang SC"/>
              </a:rPr>
              <a:t>新华社 · 10月4日  图：AI生成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20040"/>
            <a:ext cx="4114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347472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6384A"/>
                </a:solidFill>
                <a:latin typeface="PingFang SC"/>
                <a:ea typeface="PingFang SC"/>
              </a:rPr>
              <a:t>10月6日 星期二 上海 晴 15—23℃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5577840" cy="4572000"/>
          </a:xfrm>
          <a:prstGeom prst="roundRect">
            <a:avLst/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234439"/>
            <a:ext cx="365760" cy="36576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234439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9" name="Picture 8" descr="space-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91640"/>
            <a:ext cx="5303520" cy="1645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20440" y="3017520"/>
            <a:ext cx="5120640" cy="256032"/>
          </a:xfrm>
          <a:prstGeom prst="roundRect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5212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800"/>
              </a:lnSpc>
            </a:pPr>
            <a:r>
              <a:rPr sz="1400" b="1">
                <a:solidFill>
                  <a:srgbClr val="26384A"/>
                </a:solidFill>
                <a:latin typeface="PingFang SC"/>
                <a:ea typeface="PingFang SC"/>
              </a:rPr>
              <a:t>神舟二十三号航天员在太空住了四个多月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40480"/>
            <a:ext cx="5212079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</a:pPr>
            <a:r>
              <a:rPr sz="1100" b="0">
                <a:solidFill>
                  <a:srgbClr val="26384A"/>
                </a:solidFill>
                <a:latin typeface="PingFang SC"/>
                <a:ea typeface="PingFang SC"/>
              </a:rPr>
              <a:t>三名航天员叔叔在太空站已经住了四个多月。</a:t>
            </a:r>
          </a:p>
          <a:p>
            <a:pPr algn="l">
              <a:lnSpc>
                <a:spcPts val="1500"/>
              </a:lnSpc>
              <a:spcAft>
                <a:spcPts val="200"/>
              </a:spcAft>
            </a:pPr>
            <a:r>
              <a:rPr sz="1100" b="0">
                <a:solidFill>
                  <a:srgbClr val="26384A"/>
                </a:solidFill>
                <a:latin typeface="PingFang SC"/>
                <a:ea typeface="PingFang SC"/>
              </a:rPr>
              <a:t>他们还在太空过了中秋节，一边看月亮一边做实验！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480560"/>
            <a:ext cx="52120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400"/>
              </a:lnSpc>
            </a:pPr>
            <a:r>
              <a:rPr sz="1100" b="1">
                <a:solidFill>
                  <a:srgbClr val="FF6475"/>
                </a:solidFill>
                <a:latin typeface="PingFang SC"/>
                <a:ea typeface="PingFang SC"/>
              </a:rPr>
              <a:t>你想到太空住多久？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709160"/>
            <a:ext cx="5212079" cy="1828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>
              <a:lnSpc>
                <a:spcPts val="1000"/>
              </a:lnSpc>
            </a:pPr>
            <a:r>
              <a:rPr sz="700" b="0">
                <a:solidFill>
                  <a:srgbClr val="657482"/>
                </a:solidFill>
                <a:latin typeface="PingFang SC"/>
                <a:ea typeface="PingFang SC"/>
              </a:rPr>
              <a:t>央视网 · 10月5日  图：AI生成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1">
                <a:solidFill>
                  <a:srgbClr val="657482"/>
                </a:solidFill>
                <a:latin typeface="PingFang SC"/>
                <a:ea typeface="PingFang SC"/>
              </a:rPr>
              <a:t>小主播：选一条你最喜欢的新闻讲给大家听。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