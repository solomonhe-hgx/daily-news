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93192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84A"/>
                </a:solidFill>
                <a:latin typeface="PingFang SC"/>
                <a:ea typeface="PingFang SC"/>
              </a:rPr>
              <a:t>小小新闻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20840" y="310896"/>
            <a:ext cx="48463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85432" y="420624"/>
            <a:ext cx="4526280" cy="210312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6384A"/>
                </a:solidFill>
                <a:latin typeface="PingFang SC"/>
                <a:ea typeface="PingFang SC"/>
              </a:rPr>
              <a:t>9月29日 星期二　上海 阴天 21—25℃，可能有小雨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5303520" cy="4983480"/>
          </a:xfrm>
          <a:prstGeom prst="roundRect">
            <a:avLst/>
          </a:prstGeom>
          <a:solidFill>
            <a:srgbClr val="EA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ndas.jpg"/>
          <p:cNvPicPr>
            <a:picLocks noChangeAspect="1"/>
          </p:cNvPicPr>
          <p:nvPr/>
        </p:nvPicPr>
        <p:blipFill>
          <a:blip r:embed="rId2"/>
          <a:srcRect t="5880" b="5880"/>
          <a:stretch>
            <a:fillRect/>
          </a:stretch>
        </p:blipFill>
        <p:spPr>
          <a:xfrm>
            <a:off x="713232" y="1298448"/>
            <a:ext cx="5010912" cy="24871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" y="1444752"/>
            <a:ext cx="502920" cy="502920"/>
          </a:xfrm>
          <a:prstGeom prst="roundRect">
            <a:avLst/>
          </a:prstGeom>
          <a:solidFill>
            <a:srgbClr val="FFD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72768"/>
            <a:ext cx="502920" cy="219456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84A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37560"/>
            <a:ext cx="4617720" cy="347472"/>
          </a:xfrm>
          <a:prstGeom prst="roundRect">
            <a:avLst/>
          </a:prstGeom>
          <a:solidFill>
            <a:srgbClr val="26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419856"/>
            <a:ext cx="43891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</a:rPr>
              <a:t>图里：熊猫的新家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475488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6384A"/>
                </a:solidFill>
                <a:latin typeface="PingFang SC"/>
                <a:ea typeface="PingFang SC"/>
              </a:rPr>
              <a:t>熊猫坐飞机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07992"/>
            <a:ext cx="4754880" cy="64008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26384A"/>
                </a:solidFill>
                <a:latin typeface="PingFang SC"/>
                <a:ea typeface="PingFang SC"/>
              </a:rPr>
              <a:t>平平和福双到了新家。
它们先要好好休息。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67528"/>
            <a:ext cx="47548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6475"/>
                </a:solidFill>
                <a:latin typeface="PingFang SC"/>
                <a:ea typeface="PingFang SC"/>
              </a:rPr>
              <a:t>你想送熊猫什么礼物？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143000"/>
            <a:ext cx="5303520" cy="4983480"/>
          </a:xfrm>
          <a:prstGeom prst="roundRect">
            <a:avLst/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cience-letters.jpg"/>
          <p:cNvPicPr>
            <a:picLocks noChangeAspect="1"/>
          </p:cNvPicPr>
          <p:nvPr/>
        </p:nvPicPr>
        <p:blipFill>
          <a:blip r:embed="rId3"/>
          <a:srcRect t="10917" b="10917"/>
          <a:stretch>
            <a:fillRect/>
          </a:stretch>
        </p:blipFill>
        <p:spPr>
          <a:xfrm>
            <a:off x="6455664" y="1298448"/>
            <a:ext cx="5010912" cy="248716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601968" y="1444752"/>
            <a:ext cx="502920" cy="502920"/>
          </a:xfrm>
          <a:prstGeom prst="roundRect">
            <a:avLst/>
          </a:prstGeom>
          <a:solidFill>
            <a:srgbClr val="FFD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572768"/>
            <a:ext cx="502920" cy="219456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84A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56832" y="3337560"/>
            <a:ext cx="4617720" cy="347472"/>
          </a:xfrm>
          <a:prstGeom prst="roundRect">
            <a:avLst/>
          </a:prstGeom>
          <a:solidFill>
            <a:srgbClr val="26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419856"/>
            <a:ext cx="43891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</a:rPr>
              <a:t>图里：科学家爷爷在海上研究海底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977639"/>
            <a:ext cx="475488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6384A"/>
                </a:solidFill>
                <a:latin typeface="PingFang SC"/>
                <a:ea typeface="PingFang SC"/>
              </a:rPr>
              <a:t>科学家写来一封信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507992"/>
            <a:ext cx="4754880" cy="64008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26384A"/>
                </a:solidFill>
                <a:latin typeface="PingFang SC"/>
                <a:ea typeface="PingFang SC"/>
              </a:rPr>
              <a:t>他想告诉小朋友：
多问为什么，勇敢找答案。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5367528"/>
            <a:ext cx="47548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6475"/>
                </a:solidFill>
                <a:latin typeface="PingFang SC"/>
                <a:ea typeface="PingFang SC"/>
              </a:rPr>
              <a:t>你想问他什么？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896112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17080"/>
                </a:solidFill>
                <a:latin typeface="PingFang SC"/>
                <a:ea typeface="PingFang SC"/>
              </a:rPr>
              <a:t>新闻：新华社、中国科学院 · 2026年9月28日　图片：央视新闻、中国科学院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6419088"/>
            <a:ext cx="59436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17080"/>
                </a:solidFill>
                <a:latin typeface="PingFang SC"/>
                <a:ea typeface="PingFang SC"/>
              </a:rPr>
              <a:t>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93192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84A"/>
                </a:solidFill>
                <a:latin typeface="PingFang SC"/>
                <a:ea typeface="PingFang SC"/>
              </a:rPr>
              <a:t>小小新闻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20840" y="310896"/>
            <a:ext cx="48463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85432" y="420624"/>
            <a:ext cx="4526280" cy="210312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6384A"/>
                </a:solidFill>
                <a:latin typeface="PingFang SC"/>
                <a:ea typeface="PingFang SC"/>
              </a:rPr>
              <a:t>9月29日 星期二　上海 阴天 21—25℃，可能有小雨</a:t>
            </a:r>
          </a:p>
        </p:txBody>
      </p:sp>
      <p:pic>
        <p:nvPicPr>
          <p:cNvPr id="6" name="Picture 5" descr="tide-three-waves.jpg"/>
          <p:cNvPicPr>
            <a:picLocks noChangeAspect="1"/>
          </p:cNvPicPr>
          <p:nvPr/>
        </p:nvPicPr>
        <p:blipFill>
          <a:blip r:embed="rId2"/>
          <a:srcRect t="28013" b="28013"/>
          <a:stretch>
            <a:fillRect/>
          </a:stretch>
        </p:blipFill>
        <p:spPr>
          <a:xfrm>
            <a:off x="594360" y="1170432"/>
            <a:ext cx="6675120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" y="1389888"/>
            <a:ext cx="530352" cy="530352"/>
          </a:xfrm>
          <a:prstGeom prst="roundRect">
            <a:avLst/>
          </a:prstGeom>
          <a:solidFill>
            <a:srgbClr val="FFD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27048"/>
            <a:ext cx="530352" cy="219456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6384A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230368"/>
            <a:ext cx="5989320" cy="384048"/>
          </a:xfrm>
          <a:prstGeom prst="roundRect">
            <a:avLst/>
          </a:prstGeom>
          <a:solidFill>
            <a:srgbClr val="26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321808"/>
            <a:ext cx="56692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图里：钱塘江三条白色浪花正在碰到一起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1389888"/>
            <a:ext cx="3749039" cy="96012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6384A"/>
                </a:solidFill>
                <a:latin typeface="PingFang SC"/>
                <a:ea typeface="PingFang SC"/>
              </a:rPr>
              <a:t>钱塘江三股潮水相遇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560320"/>
            <a:ext cx="3749039" cy="114300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26384A"/>
                </a:solidFill>
                <a:latin typeface="PingFang SC"/>
                <a:ea typeface="PingFang SC"/>
              </a:rPr>
              <a:t>三条浪花碰在一起，
像一只大大的蝴蝶。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4114800"/>
            <a:ext cx="379476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0416" y="4315968"/>
            <a:ext cx="3401568" cy="292608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6475"/>
                </a:solidFill>
                <a:latin typeface="PingFang SC"/>
                <a:ea typeface="PingFang SC"/>
              </a:rPr>
              <a:t>你觉得它还像什么？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5257800"/>
            <a:ext cx="365760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17080"/>
                </a:solidFill>
                <a:latin typeface="PingFang SC"/>
                <a:ea typeface="PingFang SC"/>
              </a:rPr>
              <a:t>选一条你最喜欢的新闻讲给大家听。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896112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17080"/>
                </a:solidFill>
                <a:latin typeface="PingFang SC"/>
                <a:ea typeface="PingFang SC"/>
              </a:rPr>
              <a:t>新闻与图片：杭州网 · 2026年9月27日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419088"/>
            <a:ext cx="59436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17080"/>
                </a:solidFill>
                <a:latin typeface="PingFang SC"/>
                <a:ea typeface="PingFang SC"/>
              </a:rP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