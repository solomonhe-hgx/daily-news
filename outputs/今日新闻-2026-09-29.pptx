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3931920" cy="50292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26384A"/>
                </a:solidFill>
                <a:latin typeface="PingFang SC"/>
                <a:ea typeface="PingFang SC"/>
              </a:rPr>
              <a:t>小小新闻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20840" y="310896"/>
            <a:ext cx="48463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85432" y="420624"/>
            <a:ext cx="4526280" cy="210312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26384A"/>
                </a:solidFill>
                <a:latin typeface="PingFang SC"/>
                <a:ea typeface="PingFang SC"/>
              </a:rPr>
              <a:t>9月29日 星期二　上海 小雨 22—26℃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3657600" cy="4983480"/>
          </a:xfrm>
          <a:prstGeom prst="roundRect">
            <a:avLst/>
          </a:prstGeom>
          <a:solidFill>
            <a:srgbClr val="EA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ndas.jpg"/>
          <p:cNvPicPr>
            <a:picLocks noChangeAspect="1"/>
          </p:cNvPicPr>
          <p:nvPr/>
        </p:nvPicPr>
        <p:blipFill>
          <a:blip r:embed="rId2"/>
          <a:srcRect t="649" b="649"/>
          <a:stretch>
            <a:fillRect/>
          </a:stretch>
        </p:blipFill>
        <p:spPr>
          <a:xfrm>
            <a:off x="649224" y="1298448"/>
            <a:ext cx="3364992" cy="221284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5528" y="1444752"/>
            <a:ext cx="502920" cy="502920"/>
          </a:xfrm>
          <a:prstGeom prst="roundRect">
            <a:avLst/>
          </a:prstGeom>
          <a:solidFill>
            <a:srgbClr val="FFD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502920" cy="219456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84A"/>
                </a:solidFill>
                <a:latin typeface="PingFang SC"/>
                <a:ea typeface="PingFang SC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" y="3035808"/>
            <a:ext cx="3364992" cy="365760"/>
          </a:xfrm>
          <a:prstGeom prst="roundRect">
            <a:avLst/>
          </a:prstGeom>
          <a:solidFill>
            <a:srgbClr val="263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3108960"/>
            <a:ext cx="315468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图里：熊猫正坐大飞机去新家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611880"/>
            <a:ext cx="3337560" cy="77724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26384A"/>
                </a:solidFill>
                <a:latin typeface="PingFang SC"/>
                <a:ea typeface="PingFang SC"/>
              </a:rPr>
              <a:t>熊猫平平福双坐飞机去美国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4416552"/>
            <a:ext cx="3337560" cy="128016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6384A"/>
                </a:solidFill>
                <a:latin typeface="PingFang SC"/>
                <a:ea typeface="PingFang SC"/>
              </a:rPr>
              <a:t>它们从成都出发，
飞到美国的新动物园。
先好好休息，再见面。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5486400"/>
            <a:ext cx="333756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596128"/>
            <a:ext cx="315468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6475"/>
                </a:solidFill>
                <a:latin typeface="PingFang SC"/>
                <a:ea typeface="PingFang SC"/>
              </a:rPr>
              <a:t>你想给它们说什么？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1104" y="1143000"/>
            <a:ext cx="3657600" cy="4983480"/>
          </a:xfrm>
          <a:prstGeom prst="roundRect">
            <a:avLst/>
          </a:prstGeom>
          <a:solidFill>
            <a:srgbClr val="EA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ide-qiantang.jpg"/>
          <p:cNvPicPr>
            <a:picLocks noChangeAspect="1"/>
          </p:cNvPicPr>
          <p:nvPr/>
        </p:nvPicPr>
        <p:blipFill>
          <a:blip r:embed="rId3"/>
          <a:srcRect t="6159" b="6159"/>
          <a:stretch>
            <a:fillRect/>
          </a:stretch>
        </p:blipFill>
        <p:spPr>
          <a:xfrm>
            <a:off x="4407408" y="1298448"/>
            <a:ext cx="3364992" cy="221284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553712" y="1444752"/>
            <a:ext cx="502920" cy="502920"/>
          </a:xfrm>
          <a:prstGeom prst="roundRect">
            <a:avLst/>
          </a:prstGeom>
          <a:solidFill>
            <a:srgbClr val="FFD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1572768"/>
            <a:ext cx="502920" cy="219456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84A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3035808"/>
            <a:ext cx="3364992" cy="365760"/>
          </a:xfrm>
          <a:prstGeom prst="roundRect">
            <a:avLst/>
          </a:prstGeom>
          <a:solidFill>
            <a:srgbClr val="263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17136" y="3108960"/>
            <a:ext cx="315468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图里：钱塘江一条白浪推着走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3611880"/>
            <a:ext cx="3337560" cy="77724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26384A"/>
                </a:solidFill>
                <a:latin typeface="PingFang SC"/>
                <a:ea typeface="PingFang SC"/>
              </a:rPr>
              <a:t>钱塘江大潮像白线一样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5696" y="4416552"/>
            <a:ext cx="3337560" cy="128016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6384A"/>
                </a:solidFill>
                <a:latin typeface="PingFang SC"/>
                <a:ea typeface="PingFang SC"/>
              </a:rPr>
              <a:t>一条白白浪花，
推着江面往前走。
小朋友们大声说：好厉害！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25696" y="5486400"/>
            <a:ext cx="333756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5596128"/>
            <a:ext cx="315468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6475"/>
                </a:solidFill>
                <a:latin typeface="PingFang SC"/>
                <a:ea typeface="PingFang SC"/>
              </a:rPr>
              <a:t>你觉得它像什么？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19288" y="1143000"/>
            <a:ext cx="3657600" cy="4983480"/>
          </a:xfrm>
          <a:prstGeom prst="roundRect">
            <a:avLst/>
          </a:prstGeom>
          <a:solidFill>
            <a:srgbClr val="FFF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moon-autumn.jpg"/>
          <p:cNvPicPr>
            <a:picLocks noChangeAspect="1"/>
          </p:cNvPicPr>
          <p:nvPr/>
        </p:nvPicPr>
        <p:blipFill>
          <a:blip r:embed="rId4"/>
          <a:srcRect t="3495" b="3495"/>
          <a:stretch>
            <a:fillRect/>
          </a:stretch>
        </p:blipFill>
        <p:spPr>
          <a:xfrm>
            <a:off x="8165592" y="1298448"/>
            <a:ext cx="3364992" cy="2212848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8311896" y="1444752"/>
            <a:ext cx="502920" cy="502920"/>
          </a:xfrm>
          <a:prstGeom prst="roundRect">
            <a:avLst/>
          </a:prstGeom>
          <a:solidFill>
            <a:srgbClr val="FFD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1896" y="1572768"/>
            <a:ext cx="502920" cy="219456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26384A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5592" y="3035808"/>
            <a:ext cx="3364992" cy="365760"/>
          </a:xfrm>
          <a:prstGeom prst="roundRect">
            <a:avLst/>
          </a:prstGeom>
          <a:solidFill>
            <a:srgbClr val="263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19" y="3108960"/>
            <a:ext cx="315468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图里：一轮又大又圆的月亮挂在天上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3611880"/>
            <a:ext cx="3337560" cy="77724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26384A"/>
                </a:solidFill>
                <a:latin typeface="PingFang SC"/>
                <a:ea typeface="PingFang SC"/>
              </a:rPr>
              <a:t>中秋的大月亮又圆又大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4416552"/>
            <a:ext cx="3337560" cy="128016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6384A"/>
                </a:solidFill>
                <a:latin typeface="PingFang SC"/>
                <a:ea typeface="PingFang SC"/>
              </a:rPr>
              <a:t>今年最圆的月亮，
比中秋晚两天才来。
抬头看一看，有小白兔。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83879" y="5486400"/>
            <a:ext cx="333756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19" y="5596128"/>
            <a:ext cx="315468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6475"/>
                </a:solidFill>
                <a:latin typeface="PingFang SC"/>
                <a:ea typeface="PingFang SC"/>
              </a:rPr>
              <a:t>你看到了什么？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446520"/>
            <a:ext cx="10972800" cy="182880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17080"/>
                </a:solidFill>
                <a:latin typeface="PingFang SC"/>
                <a:ea typeface="PingFang SC"/>
              </a:rPr>
              <a:t>新闻：新华社、央视新闻 · 2026年9月24—28日　图片：央视新闻、视觉中国、中评网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44200" y="6419088"/>
            <a:ext cx="59436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617080"/>
                </a:solidFill>
                <a:latin typeface="PingFang SC"/>
                <a:ea typeface="PingFang SC"/>
              </a:rPr>
              <a:t>1/1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